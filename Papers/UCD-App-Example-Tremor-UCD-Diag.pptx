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1" r:id="rId2"/>
    <p:sldId id="298" r:id="rId3"/>
    <p:sldId id="256" r:id="rId4"/>
    <p:sldId id="257" r:id="rId5"/>
    <p:sldId id="262" r:id="rId6"/>
    <p:sldId id="263" r:id="rId7"/>
    <p:sldId id="264" r:id="rId8"/>
    <p:sldId id="267" r:id="rId9"/>
    <p:sldId id="265" r:id="rId10"/>
    <p:sldId id="266" r:id="rId11"/>
    <p:sldId id="268" r:id="rId12"/>
    <p:sldId id="269" r:id="rId13"/>
    <p:sldId id="271" r:id="rId14"/>
    <p:sldId id="270" r:id="rId15"/>
    <p:sldId id="272" r:id="rId16"/>
    <p:sldId id="273" r:id="rId17"/>
    <p:sldId id="274" r:id="rId18"/>
    <p:sldId id="275" r:id="rId19"/>
    <p:sldId id="289" r:id="rId20"/>
    <p:sldId id="276" r:id="rId21"/>
    <p:sldId id="29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120" y="1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BAD94-AB39-4156-8801-6611D8867A7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4371A8F-B663-4FA7-8424-2A0291001A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01C93D7-AD37-47AB-9856-79980F3CDFE3}"/>
              </a:ext>
            </a:extLst>
          </p:cNvPr>
          <p:cNvSpPr>
            <a:spLocks noGrp="1"/>
          </p:cNvSpPr>
          <p:nvPr>
            <p:ph type="dt" sz="half" idx="10"/>
          </p:nvPr>
        </p:nvSpPr>
        <p:spPr/>
        <p:txBody>
          <a:bodyPr/>
          <a:lstStyle/>
          <a:p>
            <a:fld id="{70B3C4E7-70EF-49AE-9513-1014F0C3B86D}" type="datetimeFigureOut">
              <a:rPr lang="en-US" smtClean="0"/>
              <a:t>3/15/2021</a:t>
            </a:fld>
            <a:endParaRPr lang="en-US"/>
          </a:p>
        </p:txBody>
      </p:sp>
      <p:sp>
        <p:nvSpPr>
          <p:cNvPr id="5" name="Footer Placeholder 4">
            <a:extLst>
              <a:ext uri="{FF2B5EF4-FFF2-40B4-BE49-F238E27FC236}">
                <a16:creationId xmlns:a16="http://schemas.microsoft.com/office/drawing/2014/main" id="{390B9D63-CD69-4F3F-BDB3-DE720BCF05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CE416C-D5F4-4440-A289-73ED1BF01163}"/>
              </a:ext>
            </a:extLst>
          </p:cNvPr>
          <p:cNvSpPr>
            <a:spLocks noGrp="1"/>
          </p:cNvSpPr>
          <p:nvPr>
            <p:ph type="sldNum" sz="quarter" idx="12"/>
          </p:nvPr>
        </p:nvSpPr>
        <p:spPr/>
        <p:txBody>
          <a:bodyPr/>
          <a:lstStyle/>
          <a:p>
            <a:fld id="{928FDA3E-D81F-4F0B-ADA9-7CCF48EB620C}" type="slidenum">
              <a:rPr lang="en-US" smtClean="0"/>
              <a:t>‹#›</a:t>
            </a:fld>
            <a:endParaRPr lang="en-US"/>
          </a:p>
        </p:txBody>
      </p:sp>
    </p:spTree>
    <p:extLst>
      <p:ext uri="{BB962C8B-B14F-4D97-AF65-F5344CB8AC3E}">
        <p14:creationId xmlns:p14="http://schemas.microsoft.com/office/powerpoint/2010/main" val="42470278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0F6D2-2EE8-4E1B-AD1C-62C7600E3FB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3D2F14-7982-46AD-BE8B-7ED9E24917A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CE43FB-6FE5-48C1-9AA5-0B0E85A1AA9D}"/>
              </a:ext>
            </a:extLst>
          </p:cNvPr>
          <p:cNvSpPr>
            <a:spLocks noGrp="1"/>
          </p:cNvSpPr>
          <p:nvPr>
            <p:ph type="dt" sz="half" idx="10"/>
          </p:nvPr>
        </p:nvSpPr>
        <p:spPr/>
        <p:txBody>
          <a:bodyPr/>
          <a:lstStyle/>
          <a:p>
            <a:fld id="{70B3C4E7-70EF-49AE-9513-1014F0C3B86D}" type="datetimeFigureOut">
              <a:rPr lang="en-US" smtClean="0"/>
              <a:t>3/15/2021</a:t>
            </a:fld>
            <a:endParaRPr lang="en-US"/>
          </a:p>
        </p:txBody>
      </p:sp>
      <p:sp>
        <p:nvSpPr>
          <p:cNvPr id="5" name="Footer Placeholder 4">
            <a:extLst>
              <a:ext uri="{FF2B5EF4-FFF2-40B4-BE49-F238E27FC236}">
                <a16:creationId xmlns:a16="http://schemas.microsoft.com/office/drawing/2014/main" id="{0E7774CC-1247-4D31-93A2-69446F0142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E8CE03-46C9-4B55-9E90-223D00BE33B9}"/>
              </a:ext>
            </a:extLst>
          </p:cNvPr>
          <p:cNvSpPr>
            <a:spLocks noGrp="1"/>
          </p:cNvSpPr>
          <p:nvPr>
            <p:ph type="sldNum" sz="quarter" idx="12"/>
          </p:nvPr>
        </p:nvSpPr>
        <p:spPr/>
        <p:txBody>
          <a:bodyPr/>
          <a:lstStyle/>
          <a:p>
            <a:fld id="{928FDA3E-D81F-4F0B-ADA9-7CCF48EB620C}" type="slidenum">
              <a:rPr lang="en-US" smtClean="0"/>
              <a:t>‹#›</a:t>
            </a:fld>
            <a:endParaRPr lang="en-US"/>
          </a:p>
        </p:txBody>
      </p:sp>
    </p:spTree>
    <p:extLst>
      <p:ext uri="{BB962C8B-B14F-4D97-AF65-F5344CB8AC3E}">
        <p14:creationId xmlns:p14="http://schemas.microsoft.com/office/powerpoint/2010/main" val="29098081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C0082-8CDF-49C9-92B6-EB835EE3462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64E5F0B-617E-4029-BE6F-A3CF2F6FF13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2AE8F6-E537-429A-AD0C-151A22885000}"/>
              </a:ext>
            </a:extLst>
          </p:cNvPr>
          <p:cNvSpPr>
            <a:spLocks noGrp="1"/>
          </p:cNvSpPr>
          <p:nvPr>
            <p:ph type="dt" sz="half" idx="10"/>
          </p:nvPr>
        </p:nvSpPr>
        <p:spPr/>
        <p:txBody>
          <a:bodyPr/>
          <a:lstStyle/>
          <a:p>
            <a:fld id="{70B3C4E7-70EF-49AE-9513-1014F0C3B86D}" type="datetimeFigureOut">
              <a:rPr lang="en-US" smtClean="0"/>
              <a:t>3/15/2021</a:t>
            </a:fld>
            <a:endParaRPr lang="en-US"/>
          </a:p>
        </p:txBody>
      </p:sp>
      <p:sp>
        <p:nvSpPr>
          <p:cNvPr id="5" name="Footer Placeholder 4">
            <a:extLst>
              <a:ext uri="{FF2B5EF4-FFF2-40B4-BE49-F238E27FC236}">
                <a16:creationId xmlns:a16="http://schemas.microsoft.com/office/drawing/2014/main" id="{95F7BFE1-8753-427B-90D2-025025903D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277CCF-3E6A-470C-88DE-FBBB51AF786C}"/>
              </a:ext>
            </a:extLst>
          </p:cNvPr>
          <p:cNvSpPr>
            <a:spLocks noGrp="1"/>
          </p:cNvSpPr>
          <p:nvPr>
            <p:ph type="sldNum" sz="quarter" idx="12"/>
          </p:nvPr>
        </p:nvSpPr>
        <p:spPr/>
        <p:txBody>
          <a:bodyPr/>
          <a:lstStyle/>
          <a:p>
            <a:fld id="{928FDA3E-D81F-4F0B-ADA9-7CCF48EB620C}" type="slidenum">
              <a:rPr lang="en-US" smtClean="0"/>
              <a:t>‹#›</a:t>
            </a:fld>
            <a:endParaRPr lang="en-US"/>
          </a:p>
        </p:txBody>
      </p:sp>
    </p:spTree>
    <p:extLst>
      <p:ext uri="{BB962C8B-B14F-4D97-AF65-F5344CB8AC3E}">
        <p14:creationId xmlns:p14="http://schemas.microsoft.com/office/powerpoint/2010/main" val="3694429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46BCB-A154-4BC9-B80A-8C15DA26AC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4FEC21-C60C-4169-90F8-BE6B7877021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E79B1CD-2E6F-433F-9AF8-DD6D2E2315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E791480-F572-4AEF-BD74-61DD95CFA4F7}"/>
              </a:ext>
            </a:extLst>
          </p:cNvPr>
          <p:cNvSpPr>
            <a:spLocks noGrp="1"/>
          </p:cNvSpPr>
          <p:nvPr>
            <p:ph type="dt" sz="half" idx="10"/>
          </p:nvPr>
        </p:nvSpPr>
        <p:spPr/>
        <p:txBody>
          <a:bodyPr/>
          <a:lstStyle/>
          <a:p>
            <a:fld id="{70B3C4E7-70EF-49AE-9513-1014F0C3B86D}" type="datetimeFigureOut">
              <a:rPr lang="en-US" smtClean="0"/>
              <a:t>3/15/2021</a:t>
            </a:fld>
            <a:endParaRPr lang="en-US"/>
          </a:p>
        </p:txBody>
      </p:sp>
      <p:sp>
        <p:nvSpPr>
          <p:cNvPr id="6" name="Footer Placeholder 5">
            <a:extLst>
              <a:ext uri="{FF2B5EF4-FFF2-40B4-BE49-F238E27FC236}">
                <a16:creationId xmlns:a16="http://schemas.microsoft.com/office/drawing/2014/main" id="{C52E3239-3C2E-4B3C-989B-C330F5DADC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1256E5A-7528-4D7C-B097-264C4624E7B7}"/>
              </a:ext>
            </a:extLst>
          </p:cNvPr>
          <p:cNvSpPr>
            <a:spLocks noGrp="1"/>
          </p:cNvSpPr>
          <p:nvPr>
            <p:ph type="sldNum" sz="quarter" idx="12"/>
          </p:nvPr>
        </p:nvSpPr>
        <p:spPr/>
        <p:txBody>
          <a:bodyPr/>
          <a:lstStyle/>
          <a:p>
            <a:fld id="{928FDA3E-D81F-4F0B-ADA9-7CCF48EB620C}" type="slidenum">
              <a:rPr lang="en-US" smtClean="0"/>
              <a:t>‹#›</a:t>
            </a:fld>
            <a:endParaRPr lang="en-US"/>
          </a:p>
        </p:txBody>
      </p:sp>
    </p:spTree>
    <p:extLst>
      <p:ext uri="{BB962C8B-B14F-4D97-AF65-F5344CB8AC3E}">
        <p14:creationId xmlns:p14="http://schemas.microsoft.com/office/powerpoint/2010/main" val="25011813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A56BC-D98E-466A-B3CE-F184033C526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96AD74B-B5DC-4596-AD0D-2B5AA44455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384A9E4-7CE6-46AB-9D4C-1B187A39765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ED06CD-F420-4C2F-B435-361EEE00A0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41E6F05-3875-4B67-B89A-3622C11950E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8D65811-53D7-43F9-B256-C9C0AF8482DE}"/>
              </a:ext>
            </a:extLst>
          </p:cNvPr>
          <p:cNvSpPr>
            <a:spLocks noGrp="1"/>
          </p:cNvSpPr>
          <p:nvPr>
            <p:ph type="dt" sz="half" idx="10"/>
          </p:nvPr>
        </p:nvSpPr>
        <p:spPr/>
        <p:txBody>
          <a:bodyPr/>
          <a:lstStyle/>
          <a:p>
            <a:fld id="{70B3C4E7-70EF-49AE-9513-1014F0C3B86D}" type="datetimeFigureOut">
              <a:rPr lang="en-US" smtClean="0"/>
              <a:t>3/15/2021</a:t>
            </a:fld>
            <a:endParaRPr lang="en-US"/>
          </a:p>
        </p:txBody>
      </p:sp>
      <p:sp>
        <p:nvSpPr>
          <p:cNvPr id="8" name="Footer Placeholder 7">
            <a:extLst>
              <a:ext uri="{FF2B5EF4-FFF2-40B4-BE49-F238E27FC236}">
                <a16:creationId xmlns:a16="http://schemas.microsoft.com/office/drawing/2014/main" id="{EF1859AD-A6CD-4ABC-821E-CD1C8863534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9C4724B-91F8-4DCE-BE63-7668C02C15D7}"/>
              </a:ext>
            </a:extLst>
          </p:cNvPr>
          <p:cNvSpPr>
            <a:spLocks noGrp="1"/>
          </p:cNvSpPr>
          <p:nvPr>
            <p:ph type="sldNum" sz="quarter" idx="12"/>
          </p:nvPr>
        </p:nvSpPr>
        <p:spPr/>
        <p:txBody>
          <a:bodyPr/>
          <a:lstStyle/>
          <a:p>
            <a:fld id="{928FDA3E-D81F-4F0B-ADA9-7CCF48EB620C}" type="slidenum">
              <a:rPr lang="en-US" smtClean="0"/>
              <a:t>‹#›</a:t>
            </a:fld>
            <a:endParaRPr lang="en-US"/>
          </a:p>
        </p:txBody>
      </p:sp>
    </p:spTree>
    <p:extLst>
      <p:ext uri="{BB962C8B-B14F-4D97-AF65-F5344CB8AC3E}">
        <p14:creationId xmlns:p14="http://schemas.microsoft.com/office/powerpoint/2010/main" val="12409248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F1916-281F-47A7-925F-4BED179484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DE5B74E-E15A-432D-84D8-35FC2889655E}"/>
              </a:ext>
            </a:extLst>
          </p:cNvPr>
          <p:cNvSpPr>
            <a:spLocks noGrp="1"/>
          </p:cNvSpPr>
          <p:nvPr>
            <p:ph type="dt" sz="half" idx="10"/>
          </p:nvPr>
        </p:nvSpPr>
        <p:spPr/>
        <p:txBody>
          <a:bodyPr/>
          <a:lstStyle/>
          <a:p>
            <a:fld id="{70B3C4E7-70EF-49AE-9513-1014F0C3B86D}" type="datetimeFigureOut">
              <a:rPr lang="en-US" smtClean="0"/>
              <a:t>3/15/2021</a:t>
            </a:fld>
            <a:endParaRPr lang="en-US"/>
          </a:p>
        </p:txBody>
      </p:sp>
      <p:sp>
        <p:nvSpPr>
          <p:cNvPr id="4" name="Footer Placeholder 3">
            <a:extLst>
              <a:ext uri="{FF2B5EF4-FFF2-40B4-BE49-F238E27FC236}">
                <a16:creationId xmlns:a16="http://schemas.microsoft.com/office/drawing/2014/main" id="{6673FDEE-61BA-45B6-9296-068956BBD4E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08A2E50-41C7-40A8-A012-588F99D142D1}"/>
              </a:ext>
            </a:extLst>
          </p:cNvPr>
          <p:cNvSpPr>
            <a:spLocks noGrp="1"/>
          </p:cNvSpPr>
          <p:nvPr>
            <p:ph type="sldNum" sz="quarter" idx="12"/>
          </p:nvPr>
        </p:nvSpPr>
        <p:spPr/>
        <p:txBody>
          <a:bodyPr/>
          <a:lstStyle/>
          <a:p>
            <a:fld id="{928FDA3E-D81F-4F0B-ADA9-7CCF48EB620C}" type="slidenum">
              <a:rPr lang="en-US" smtClean="0"/>
              <a:t>‹#›</a:t>
            </a:fld>
            <a:endParaRPr lang="en-US"/>
          </a:p>
        </p:txBody>
      </p:sp>
    </p:spTree>
    <p:extLst>
      <p:ext uri="{BB962C8B-B14F-4D97-AF65-F5344CB8AC3E}">
        <p14:creationId xmlns:p14="http://schemas.microsoft.com/office/powerpoint/2010/main" val="4352921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4A1130-B4ED-4109-A3F5-3619F07B21ED}"/>
              </a:ext>
            </a:extLst>
          </p:cNvPr>
          <p:cNvSpPr>
            <a:spLocks noGrp="1"/>
          </p:cNvSpPr>
          <p:nvPr>
            <p:ph type="dt" sz="half" idx="10"/>
          </p:nvPr>
        </p:nvSpPr>
        <p:spPr/>
        <p:txBody>
          <a:bodyPr/>
          <a:lstStyle/>
          <a:p>
            <a:fld id="{70B3C4E7-70EF-49AE-9513-1014F0C3B86D}" type="datetimeFigureOut">
              <a:rPr lang="en-US" smtClean="0"/>
              <a:t>3/15/2021</a:t>
            </a:fld>
            <a:endParaRPr lang="en-US"/>
          </a:p>
        </p:txBody>
      </p:sp>
      <p:sp>
        <p:nvSpPr>
          <p:cNvPr id="3" name="Footer Placeholder 2">
            <a:extLst>
              <a:ext uri="{FF2B5EF4-FFF2-40B4-BE49-F238E27FC236}">
                <a16:creationId xmlns:a16="http://schemas.microsoft.com/office/drawing/2014/main" id="{2C3D0EAB-869A-4557-B284-EE80BBFCA20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EA759E9-F04C-4904-9B37-BD3953C56B4E}"/>
              </a:ext>
            </a:extLst>
          </p:cNvPr>
          <p:cNvSpPr>
            <a:spLocks noGrp="1"/>
          </p:cNvSpPr>
          <p:nvPr>
            <p:ph type="sldNum" sz="quarter" idx="12"/>
          </p:nvPr>
        </p:nvSpPr>
        <p:spPr/>
        <p:txBody>
          <a:bodyPr/>
          <a:lstStyle/>
          <a:p>
            <a:fld id="{928FDA3E-D81F-4F0B-ADA9-7CCF48EB620C}" type="slidenum">
              <a:rPr lang="en-US" smtClean="0"/>
              <a:t>‹#›</a:t>
            </a:fld>
            <a:endParaRPr lang="en-US"/>
          </a:p>
        </p:txBody>
      </p:sp>
    </p:spTree>
    <p:extLst>
      <p:ext uri="{BB962C8B-B14F-4D97-AF65-F5344CB8AC3E}">
        <p14:creationId xmlns:p14="http://schemas.microsoft.com/office/powerpoint/2010/main" val="25468094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BA33E-D407-4432-8B52-42506EC8AE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45649BE-3153-4A37-87FC-70405CF3F7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939B521-B6EB-4C63-8C05-CDED89063E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F6146C-ED8C-47AB-BF71-1F881B70D1B8}"/>
              </a:ext>
            </a:extLst>
          </p:cNvPr>
          <p:cNvSpPr>
            <a:spLocks noGrp="1"/>
          </p:cNvSpPr>
          <p:nvPr>
            <p:ph type="dt" sz="half" idx="10"/>
          </p:nvPr>
        </p:nvSpPr>
        <p:spPr/>
        <p:txBody>
          <a:bodyPr/>
          <a:lstStyle/>
          <a:p>
            <a:fld id="{70B3C4E7-70EF-49AE-9513-1014F0C3B86D}" type="datetimeFigureOut">
              <a:rPr lang="en-US" smtClean="0"/>
              <a:t>3/15/2021</a:t>
            </a:fld>
            <a:endParaRPr lang="en-US"/>
          </a:p>
        </p:txBody>
      </p:sp>
      <p:sp>
        <p:nvSpPr>
          <p:cNvPr id="6" name="Footer Placeholder 5">
            <a:extLst>
              <a:ext uri="{FF2B5EF4-FFF2-40B4-BE49-F238E27FC236}">
                <a16:creationId xmlns:a16="http://schemas.microsoft.com/office/drawing/2014/main" id="{3114BB01-FBF2-4506-9777-437E4A6654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45942C-A739-42F5-98EA-CA62C67FC32A}"/>
              </a:ext>
            </a:extLst>
          </p:cNvPr>
          <p:cNvSpPr>
            <a:spLocks noGrp="1"/>
          </p:cNvSpPr>
          <p:nvPr>
            <p:ph type="sldNum" sz="quarter" idx="12"/>
          </p:nvPr>
        </p:nvSpPr>
        <p:spPr/>
        <p:txBody>
          <a:bodyPr/>
          <a:lstStyle/>
          <a:p>
            <a:fld id="{928FDA3E-D81F-4F0B-ADA9-7CCF48EB620C}" type="slidenum">
              <a:rPr lang="en-US" smtClean="0"/>
              <a:t>‹#›</a:t>
            </a:fld>
            <a:endParaRPr lang="en-US"/>
          </a:p>
        </p:txBody>
      </p:sp>
    </p:spTree>
    <p:extLst>
      <p:ext uri="{BB962C8B-B14F-4D97-AF65-F5344CB8AC3E}">
        <p14:creationId xmlns:p14="http://schemas.microsoft.com/office/powerpoint/2010/main" val="3703005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E9DD8-852E-4082-802B-4BE8C4833E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3E8703E-18A0-462B-A382-99FC6AD1D96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B0254E6-1219-499B-A4C9-B58DE38358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854DDA-E082-46BC-A50E-7F1774227A40}"/>
              </a:ext>
            </a:extLst>
          </p:cNvPr>
          <p:cNvSpPr>
            <a:spLocks noGrp="1"/>
          </p:cNvSpPr>
          <p:nvPr>
            <p:ph type="dt" sz="half" idx="10"/>
          </p:nvPr>
        </p:nvSpPr>
        <p:spPr/>
        <p:txBody>
          <a:bodyPr/>
          <a:lstStyle/>
          <a:p>
            <a:fld id="{70B3C4E7-70EF-49AE-9513-1014F0C3B86D}" type="datetimeFigureOut">
              <a:rPr lang="en-US" smtClean="0"/>
              <a:t>3/15/2021</a:t>
            </a:fld>
            <a:endParaRPr lang="en-US"/>
          </a:p>
        </p:txBody>
      </p:sp>
      <p:sp>
        <p:nvSpPr>
          <p:cNvPr id="6" name="Footer Placeholder 5">
            <a:extLst>
              <a:ext uri="{FF2B5EF4-FFF2-40B4-BE49-F238E27FC236}">
                <a16:creationId xmlns:a16="http://schemas.microsoft.com/office/drawing/2014/main" id="{413F8C96-0799-4978-8D5C-1F7280B73C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6C3544-F4B9-4298-809C-46F1A1A01693}"/>
              </a:ext>
            </a:extLst>
          </p:cNvPr>
          <p:cNvSpPr>
            <a:spLocks noGrp="1"/>
          </p:cNvSpPr>
          <p:nvPr>
            <p:ph type="sldNum" sz="quarter" idx="12"/>
          </p:nvPr>
        </p:nvSpPr>
        <p:spPr/>
        <p:txBody>
          <a:bodyPr/>
          <a:lstStyle/>
          <a:p>
            <a:fld id="{928FDA3E-D81F-4F0B-ADA9-7CCF48EB620C}" type="slidenum">
              <a:rPr lang="en-US" smtClean="0"/>
              <a:t>‹#›</a:t>
            </a:fld>
            <a:endParaRPr lang="en-US"/>
          </a:p>
        </p:txBody>
      </p:sp>
    </p:spTree>
    <p:extLst>
      <p:ext uri="{BB962C8B-B14F-4D97-AF65-F5344CB8AC3E}">
        <p14:creationId xmlns:p14="http://schemas.microsoft.com/office/powerpoint/2010/main" val="6794528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6405C-A12D-4593-9B44-16543E264B1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D149C6-E7B6-4626-B827-BFFD3172FA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73DDAD-FAA8-4097-B747-AB104038C494}"/>
              </a:ext>
            </a:extLst>
          </p:cNvPr>
          <p:cNvSpPr>
            <a:spLocks noGrp="1"/>
          </p:cNvSpPr>
          <p:nvPr>
            <p:ph type="dt" sz="half" idx="10"/>
          </p:nvPr>
        </p:nvSpPr>
        <p:spPr/>
        <p:txBody>
          <a:bodyPr/>
          <a:lstStyle/>
          <a:p>
            <a:fld id="{70B3C4E7-70EF-49AE-9513-1014F0C3B86D}" type="datetimeFigureOut">
              <a:rPr lang="en-US" smtClean="0"/>
              <a:t>3/15/2021</a:t>
            </a:fld>
            <a:endParaRPr lang="en-US"/>
          </a:p>
        </p:txBody>
      </p:sp>
      <p:sp>
        <p:nvSpPr>
          <p:cNvPr id="5" name="Footer Placeholder 4">
            <a:extLst>
              <a:ext uri="{FF2B5EF4-FFF2-40B4-BE49-F238E27FC236}">
                <a16:creationId xmlns:a16="http://schemas.microsoft.com/office/drawing/2014/main" id="{49621E0F-B6A2-4FD7-B0B4-603E0A506E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E3F39A-7FD1-4AF1-A22D-246431CDC961}"/>
              </a:ext>
            </a:extLst>
          </p:cNvPr>
          <p:cNvSpPr>
            <a:spLocks noGrp="1"/>
          </p:cNvSpPr>
          <p:nvPr>
            <p:ph type="sldNum" sz="quarter" idx="12"/>
          </p:nvPr>
        </p:nvSpPr>
        <p:spPr/>
        <p:txBody>
          <a:bodyPr/>
          <a:lstStyle/>
          <a:p>
            <a:fld id="{928FDA3E-D81F-4F0B-ADA9-7CCF48EB620C}" type="slidenum">
              <a:rPr lang="en-US" smtClean="0"/>
              <a:t>‹#›</a:t>
            </a:fld>
            <a:endParaRPr lang="en-US"/>
          </a:p>
        </p:txBody>
      </p:sp>
    </p:spTree>
    <p:extLst>
      <p:ext uri="{BB962C8B-B14F-4D97-AF65-F5344CB8AC3E}">
        <p14:creationId xmlns:p14="http://schemas.microsoft.com/office/powerpoint/2010/main" val="16418204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C0F8A40-DC58-4729-A748-EC53B210E15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FD4465E-65E5-4954-B529-1FDFE036DBD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FDD7FB-371A-42FE-84A2-A834C2064374}"/>
              </a:ext>
            </a:extLst>
          </p:cNvPr>
          <p:cNvSpPr>
            <a:spLocks noGrp="1"/>
          </p:cNvSpPr>
          <p:nvPr>
            <p:ph type="dt" sz="half" idx="10"/>
          </p:nvPr>
        </p:nvSpPr>
        <p:spPr/>
        <p:txBody>
          <a:bodyPr/>
          <a:lstStyle/>
          <a:p>
            <a:fld id="{70B3C4E7-70EF-49AE-9513-1014F0C3B86D}" type="datetimeFigureOut">
              <a:rPr lang="en-US" smtClean="0"/>
              <a:t>3/15/2021</a:t>
            </a:fld>
            <a:endParaRPr lang="en-US"/>
          </a:p>
        </p:txBody>
      </p:sp>
      <p:sp>
        <p:nvSpPr>
          <p:cNvPr id="5" name="Footer Placeholder 4">
            <a:extLst>
              <a:ext uri="{FF2B5EF4-FFF2-40B4-BE49-F238E27FC236}">
                <a16:creationId xmlns:a16="http://schemas.microsoft.com/office/drawing/2014/main" id="{0E79DA94-3FD3-4D8A-B58A-A9DEF9A87D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2EFFD5-C3A4-4829-AC2B-DC021F156604}"/>
              </a:ext>
            </a:extLst>
          </p:cNvPr>
          <p:cNvSpPr>
            <a:spLocks noGrp="1"/>
          </p:cNvSpPr>
          <p:nvPr>
            <p:ph type="sldNum" sz="quarter" idx="12"/>
          </p:nvPr>
        </p:nvSpPr>
        <p:spPr/>
        <p:txBody>
          <a:bodyPr/>
          <a:lstStyle/>
          <a:p>
            <a:fld id="{928FDA3E-D81F-4F0B-ADA9-7CCF48EB620C}" type="slidenum">
              <a:rPr lang="en-US" smtClean="0"/>
              <a:t>‹#›</a:t>
            </a:fld>
            <a:endParaRPr lang="en-US"/>
          </a:p>
        </p:txBody>
      </p:sp>
    </p:spTree>
    <p:extLst>
      <p:ext uri="{BB962C8B-B14F-4D97-AF65-F5344CB8AC3E}">
        <p14:creationId xmlns:p14="http://schemas.microsoft.com/office/powerpoint/2010/main" val="535260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67BEC6-828B-4082-98D0-0269014B95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0751F91-BEAE-4238-919D-C32A8A41982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9A7999-CAD6-46FA-BD61-623E02D2157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B3C4E7-70EF-49AE-9513-1014F0C3B86D}" type="datetimeFigureOut">
              <a:rPr lang="en-US" smtClean="0"/>
              <a:t>3/15/2021</a:t>
            </a:fld>
            <a:endParaRPr lang="en-US"/>
          </a:p>
        </p:txBody>
      </p:sp>
      <p:sp>
        <p:nvSpPr>
          <p:cNvPr id="5" name="Footer Placeholder 4">
            <a:extLst>
              <a:ext uri="{FF2B5EF4-FFF2-40B4-BE49-F238E27FC236}">
                <a16:creationId xmlns:a16="http://schemas.microsoft.com/office/drawing/2014/main" id="{50724D8C-D973-4C75-8A03-7B1BD74237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D051293-BB1E-4206-B3EC-C2BAE1AA8F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8FDA3E-D81F-4F0B-ADA9-7CCF48EB620C}" type="slidenum">
              <a:rPr lang="en-US" smtClean="0"/>
              <a:t>‹#›</a:t>
            </a:fld>
            <a:endParaRPr lang="en-US"/>
          </a:p>
        </p:txBody>
      </p:sp>
    </p:spTree>
    <p:extLst>
      <p:ext uri="{BB962C8B-B14F-4D97-AF65-F5344CB8AC3E}">
        <p14:creationId xmlns:p14="http://schemas.microsoft.com/office/powerpoint/2010/main" val="33677194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7E7499E-75CC-4660-9026-EDF95F299F34}"/>
              </a:ext>
            </a:extLst>
          </p:cNvPr>
          <p:cNvSpPr txBox="1"/>
          <p:nvPr/>
        </p:nvSpPr>
        <p:spPr>
          <a:xfrm>
            <a:off x="1737222" y="1975353"/>
            <a:ext cx="8717555" cy="1857368"/>
          </a:xfrm>
          <a:prstGeom prst="rect">
            <a:avLst/>
          </a:prstGeom>
          <a:noFill/>
        </p:spPr>
        <p:txBody>
          <a:bodyPr wrap="square">
            <a:spAutoFit/>
          </a:bodyPr>
          <a:lstStyle/>
          <a:p>
            <a:pPr marL="0" marR="0">
              <a:lnSpc>
                <a:spcPct val="107000"/>
              </a:lnSpc>
              <a:spcBef>
                <a:spcPts val="0"/>
              </a:spcBef>
              <a:spcAft>
                <a:spcPts val="0"/>
              </a:spcAft>
            </a:pPr>
            <a:r>
              <a:rPr lang="en-US" sz="1800" b="1" dirty="0">
                <a:effectLst/>
                <a:latin typeface="Calibri" panose="020F0502020204030204" pitchFamily="34" charset="0"/>
                <a:ea typeface="Malgun Gothic" panose="020B0503020000020004" pitchFamily="34" charset="-127"/>
                <a:cs typeface="Times New Roman" panose="02020603050405020304" pitchFamily="18" charset="0"/>
              </a:rPr>
              <a:t>AMIA 2021 Urea Cycle Disorder (UCD) App Example</a:t>
            </a:r>
            <a:endParaRPr lang="en-US" sz="1800" dirty="0">
              <a:effectLst/>
              <a:latin typeface="Calibri" panose="020F0502020204030204" pitchFamily="34" charset="0"/>
              <a:ea typeface="Malgun Gothic" panose="020B0503020000020004" pitchFamily="34" charset="-127"/>
              <a:cs typeface="Times New Roman" panose="02020603050405020304" pitchFamily="18" charset="0"/>
            </a:endParaRPr>
          </a:p>
          <a:p>
            <a:pPr marL="0" marR="0">
              <a:lnSpc>
                <a:spcPct val="107000"/>
              </a:lnSpc>
              <a:spcBef>
                <a:spcPts val="0"/>
              </a:spcBef>
              <a:spcAft>
                <a:spcPts val="0"/>
              </a:spcAft>
            </a:pPr>
            <a:r>
              <a:rPr lang="en-US" sz="1800" dirty="0">
                <a:effectLst/>
                <a:latin typeface="Calibri" panose="020F0502020204030204" pitchFamily="34" charset="0"/>
                <a:ea typeface="Malgun Gothic" panose="020B0503020000020004" pitchFamily="34" charset="-127"/>
                <a:cs typeface="Times New Roman" panose="02020603050405020304" pitchFamily="18" charset="0"/>
              </a:rPr>
              <a:t> </a:t>
            </a:r>
          </a:p>
          <a:p>
            <a:pPr marL="0" marR="0">
              <a:lnSpc>
                <a:spcPct val="107000"/>
              </a:lnSpc>
              <a:spcBef>
                <a:spcPts val="0"/>
              </a:spcBef>
              <a:spcAft>
                <a:spcPts val="0"/>
              </a:spcAft>
            </a:pPr>
            <a:r>
              <a:rPr lang="en-US" sz="1800" b="1" dirty="0">
                <a:effectLst/>
                <a:latin typeface="Calibri" panose="020F0502020204030204" pitchFamily="34" charset="0"/>
                <a:ea typeface="Malgun Gothic" panose="020B0503020000020004" pitchFamily="34" charset="-127"/>
                <a:cs typeface="Times New Roman" panose="02020603050405020304" pitchFamily="18" charset="0"/>
              </a:rPr>
              <a:t>Tremor SNOMED CT Concepts with UCD and Hyperammonemia (HA) diagnoses</a:t>
            </a:r>
            <a:endParaRPr lang="en-US" sz="1800" dirty="0">
              <a:effectLst/>
              <a:latin typeface="Calibri" panose="020F0502020204030204" pitchFamily="34" charset="0"/>
              <a:ea typeface="Malgun Gothic" panose="020B0503020000020004" pitchFamily="34" charset="-127"/>
              <a:cs typeface="Times New Roman" panose="02020603050405020304" pitchFamily="18" charset="0"/>
            </a:endParaRPr>
          </a:p>
          <a:p>
            <a:pPr marL="0" marR="0">
              <a:lnSpc>
                <a:spcPct val="107000"/>
              </a:lnSpc>
              <a:spcBef>
                <a:spcPts val="0"/>
              </a:spcBef>
              <a:spcAft>
                <a:spcPts val="0"/>
              </a:spcAft>
            </a:pPr>
            <a:r>
              <a:rPr lang="en-US" sz="1800" dirty="0">
                <a:effectLst/>
                <a:latin typeface="Calibri" panose="020F0502020204030204" pitchFamily="34" charset="0"/>
                <a:ea typeface="Malgun Gothic" panose="020B0503020000020004" pitchFamily="34" charset="-127"/>
                <a:cs typeface="Times New Roman" panose="02020603050405020304" pitchFamily="18" charset="0"/>
              </a:rPr>
              <a:t> </a:t>
            </a:r>
          </a:p>
          <a:p>
            <a:pPr marL="0" marR="0">
              <a:lnSpc>
                <a:spcPct val="107000"/>
              </a:lnSpc>
              <a:spcBef>
                <a:spcPts val="0"/>
              </a:spcBef>
              <a:spcAft>
                <a:spcPts val="0"/>
              </a:spcAft>
            </a:pPr>
            <a:r>
              <a:rPr lang="en-US" sz="1800" b="1" dirty="0">
                <a:effectLst/>
                <a:latin typeface="Calibri" panose="020F0502020204030204" pitchFamily="34" charset="0"/>
                <a:ea typeface="Malgun Gothic" panose="020B0503020000020004" pitchFamily="34" charset="-127"/>
                <a:cs typeface="Times New Roman" panose="02020603050405020304" pitchFamily="18" charset="0"/>
              </a:rPr>
              <a:t>Steps to construct graph</a:t>
            </a:r>
          </a:p>
          <a:p>
            <a:pPr marL="0" marR="0">
              <a:lnSpc>
                <a:spcPct val="107000"/>
              </a:lnSpc>
              <a:spcBef>
                <a:spcPts val="0"/>
              </a:spcBef>
              <a:spcAft>
                <a:spcPts val="0"/>
              </a:spcAft>
            </a:pPr>
            <a:r>
              <a:rPr lang="en-US" sz="1800" dirty="0">
                <a:effectLst/>
                <a:latin typeface="Calibri" panose="020F0502020204030204" pitchFamily="34" charset="0"/>
                <a:ea typeface="Malgun Gothic" panose="020B0503020000020004" pitchFamily="34" charset="-127"/>
                <a:cs typeface="Times New Roman" panose="02020603050405020304" pitchFamily="18" charset="0"/>
              </a:rPr>
              <a:t> </a:t>
            </a:r>
          </a:p>
        </p:txBody>
      </p:sp>
    </p:spTree>
    <p:extLst>
      <p:ext uri="{BB962C8B-B14F-4D97-AF65-F5344CB8AC3E}">
        <p14:creationId xmlns:p14="http://schemas.microsoft.com/office/powerpoint/2010/main" val="30579499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1037" y="188912"/>
            <a:ext cx="11077575" cy="1325563"/>
          </a:xfrm>
        </p:spPr>
        <p:txBody>
          <a:bodyPr/>
          <a:lstStyle/>
          <a:p>
            <a:r>
              <a:rPr lang="en-US" dirty="0">
                <a:solidFill>
                  <a:srgbClr val="FF0000"/>
                </a:solidFill>
              </a:rPr>
              <a:t>TOM – pick any queries that make sense to you.</a:t>
            </a:r>
          </a:p>
        </p:txBody>
      </p:sp>
      <p:sp>
        <p:nvSpPr>
          <p:cNvPr id="3" name="Content Placeholder 2"/>
          <p:cNvSpPr>
            <a:spLocks noGrp="1"/>
          </p:cNvSpPr>
          <p:nvPr>
            <p:ph idx="1"/>
          </p:nvPr>
        </p:nvSpPr>
        <p:spPr>
          <a:xfrm>
            <a:off x="1985963" y="1514475"/>
            <a:ext cx="9996487" cy="5289550"/>
          </a:xfrm>
        </p:spPr>
        <p:txBody>
          <a:bodyPr>
            <a:normAutofit fontScale="85000" lnSpcReduction="20000"/>
          </a:bodyPr>
          <a:lstStyle/>
          <a:p>
            <a:r>
              <a:rPr lang="en-US" dirty="0"/>
              <a:t>The next 2 slides are screen shots that I have in the paper (I scraped them from our Zoom calls); you do not have to be compelled to use them.</a:t>
            </a:r>
            <a:br>
              <a:rPr lang="en-US" dirty="0"/>
            </a:br>
            <a:br>
              <a:rPr lang="en-US" dirty="0"/>
            </a:br>
            <a:r>
              <a:rPr lang="en-US" dirty="0"/>
              <a:t>I thought it would be interesting to do one query that shows all the different UCD sub-types and a SNOMED code.  Then we can add the HA events / no HA events variable.  (Hovering over the nodes and edges to show the counts.) </a:t>
            </a:r>
          </a:p>
          <a:p>
            <a:r>
              <a:rPr lang="en-US" dirty="0"/>
              <a:t>Then we could focus in on ALD as one type of UCD.  And show the ALD + no-HA + intentional tremors node with the talking point.</a:t>
            </a:r>
          </a:p>
          <a:p>
            <a:r>
              <a:rPr lang="en-US" dirty="0"/>
              <a:t>A final talking point could be the fact that the edge thickness can be difficult to interpret when there are fewer observations. </a:t>
            </a:r>
          </a:p>
          <a:p>
            <a:pPr lvl="1"/>
            <a:r>
              <a:rPr lang="en-US" dirty="0"/>
              <a:t>“We found that the size connected vertices must be considered when assessing significance of relative relationships. For instance, due to its heavier connecting edge, the relationship of proximal-UCD disorders to Attention Deficit Hyperactivity Disorder appeared more significant than that to Mood Disorder in our visualization. However, the heavier edge was explained by a greater number of observations in the first relationship than in the second, when in fact, the proportions of different UCD subtypes for each SNOMED concept were similar. “</a:t>
            </a:r>
            <a:endParaRPr lang="en-US" sz="2200" dirty="0"/>
          </a:p>
          <a:p>
            <a:pPr marL="0" indent="0">
              <a:buNone/>
            </a:pPr>
            <a:r>
              <a:rPr lang="en-US" sz="2600" dirty="0"/>
              <a:t>	</a:t>
            </a:r>
            <a:endParaRPr lang="en-US" dirty="0"/>
          </a:p>
          <a:p>
            <a:endParaRPr lang="en-US" dirty="0"/>
          </a:p>
          <a:p>
            <a:endParaRPr lang="en-US" dirty="0"/>
          </a:p>
        </p:txBody>
      </p:sp>
      <p:sp>
        <p:nvSpPr>
          <p:cNvPr id="4" name="TextBox 3"/>
          <p:cNvSpPr txBox="1"/>
          <p:nvPr/>
        </p:nvSpPr>
        <p:spPr>
          <a:xfrm>
            <a:off x="-61912" y="1514475"/>
            <a:ext cx="1824037" cy="3139321"/>
          </a:xfrm>
          <a:prstGeom prst="rect">
            <a:avLst/>
          </a:prstGeom>
          <a:noFill/>
        </p:spPr>
        <p:txBody>
          <a:bodyPr wrap="square" rtlCol="0">
            <a:spAutoFit/>
          </a:bodyPr>
          <a:lstStyle/>
          <a:p>
            <a:r>
              <a:rPr lang="en-US" b="1" dirty="0">
                <a:solidFill>
                  <a:srgbClr val="FF0000"/>
                </a:solidFill>
              </a:rPr>
              <a:t>Your video can have audio (preferred) or can just be video and I can add audio on top. In either case, I can provide the set-up (background) and the conclusions.</a:t>
            </a:r>
          </a:p>
        </p:txBody>
      </p:sp>
    </p:spTree>
    <p:extLst>
      <p:ext uri="{BB962C8B-B14F-4D97-AF65-F5344CB8AC3E}">
        <p14:creationId xmlns:p14="http://schemas.microsoft.com/office/powerpoint/2010/main" val="19812407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2420829-ED32-49C3-B80F-300E4D4C694E}"/>
              </a:ext>
            </a:extLst>
          </p:cNvPr>
          <p:cNvSpPr txBox="1"/>
          <p:nvPr/>
        </p:nvSpPr>
        <p:spPr>
          <a:xfrm>
            <a:off x="349786" y="385648"/>
            <a:ext cx="11495850" cy="375552"/>
          </a:xfrm>
          <a:prstGeom prst="rect">
            <a:avLst/>
          </a:prstGeom>
          <a:noFill/>
        </p:spPr>
        <p:txBody>
          <a:bodyPr wrap="square">
            <a:spAutoFit/>
          </a:bodyPr>
          <a:lstStyle/>
          <a:p>
            <a:pPr marL="0" marR="0">
              <a:lnSpc>
                <a:spcPct val="107000"/>
              </a:lnSpc>
              <a:spcBef>
                <a:spcPts val="0"/>
              </a:spcBef>
              <a:spcAft>
                <a:spcPts val="0"/>
              </a:spcAft>
            </a:pPr>
            <a:r>
              <a:rPr lang="en-US" sz="1800" dirty="0">
                <a:effectLst/>
                <a:latin typeface="Calibri" panose="020F0502020204030204" pitchFamily="34" charset="0"/>
                <a:ea typeface="Malgun Gothic" panose="020B0503020000020004" pitchFamily="34" charset="-127"/>
                <a:cs typeface="Times New Roman" panose="02020603050405020304" pitchFamily="18" charset="0"/>
              </a:rPr>
              <a:t>Explore concepts by descending through SNOMED CT tree and locate a concept of interest</a:t>
            </a:r>
          </a:p>
        </p:txBody>
      </p:sp>
      <p:pic>
        <p:nvPicPr>
          <p:cNvPr id="11" name="Picture 10" descr="Graphical user interface, text, application&#10;&#10;Description automatically generated">
            <a:extLst>
              <a:ext uri="{FF2B5EF4-FFF2-40B4-BE49-F238E27FC236}">
                <a16:creationId xmlns:a16="http://schemas.microsoft.com/office/drawing/2014/main" id="{F435E6E1-4ED4-4F0B-997A-FA8CD3D21D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7022" y="972956"/>
            <a:ext cx="9962635" cy="5452871"/>
          </a:xfrm>
          <a:prstGeom prst="rect">
            <a:avLst/>
          </a:prstGeom>
        </p:spPr>
      </p:pic>
      <p:sp>
        <p:nvSpPr>
          <p:cNvPr id="13" name="TextBox 12">
            <a:extLst>
              <a:ext uri="{FF2B5EF4-FFF2-40B4-BE49-F238E27FC236}">
                <a16:creationId xmlns:a16="http://schemas.microsoft.com/office/drawing/2014/main" id="{51609AE7-E34B-4E8B-B9D5-81FC7ADD3B14}"/>
              </a:ext>
            </a:extLst>
          </p:cNvPr>
          <p:cNvSpPr txBox="1"/>
          <p:nvPr/>
        </p:nvSpPr>
        <p:spPr>
          <a:xfrm>
            <a:off x="349786" y="972956"/>
            <a:ext cx="1787236" cy="375552"/>
          </a:xfrm>
          <a:prstGeom prst="rect">
            <a:avLst/>
          </a:prstGeom>
          <a:noFill/>
        </p:spPr>
        <p:txBody>
          <a:bodyPr wrap="square">
            <a:spAutoFit/>
          </a:bodyPr>
          <a:lstStyle/>
          <a:p>
            <a:pPr marL="0" marR="0">
              <a:lnSpc>
                <a:spcPct val="107000"/>
              </a:lnSpc>
              <a:spcBef>
                <a:spcPts val="0"/>
              </a:spcBef>
              <a:spcAft>
                <a:spcPts val="0"/>
              </a:spcAft>
            </a:pPr>
            <a:r>
              <a:rPr lang="en-US" sz="1800" dirty="0">
                <a:effectLst/>
                <a:latin typeface="Calibri" panose="020F0502020204030204" pitchFamily="34" charset="0"/>
                <a:ea typeface="Malgun Gothic" panose="020B0503020000020004" pitchFamily="34" charset="-127"/>
                <a:cs typeface="Times New Roman" panose="02020603050405020304" pitchFamily="18" charset="0"/>
              </a:rPr>
              <a:t>Clinical finding</a:t>
            </a:r>
          </a:p>
        </p:txBody>
      </p:sp>
    </p:spTree>
    <p:extLst>
      <p:ext uri="{BB962C8B-B14F-4D97-AF65-F5344CB8AC3E}">
        <p14:creationId xmlns:p14="http://schemas.microsoft.com/office/powerpoint/2010/main" val="29940470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81244B-E318-4ED4-81F0-DE0F6C6894D6}"/>
              </a:ext>
            </a:extLst>
          </p:cNvPr>
          <p:cNvSpPr txBox="1"/>
          <p:nvPr/>
        </p:nvSpPr>
        <p:spPr>
          <a:xfrm>
            <a:off x="349786" y="385648"/>
            <a:ext cx="11495850" cy="375552"/>
          </a:xfrm>
          <a:prstGeom prst="rect">
            <a:avLst/>
          </a:prstGeom>
          <a:noFill/>
        </p:spPr>
        <p:txBody>
          <a:bodyPr wrap="square">
            <a:spAutoFit/>
          </a:bodyPr>
          <a:lstStyle/>
          <a:p>
            <a:pPr marL="0" marR="0">
              <a:lnSpc>
                <a:spcPct val="107000"/>
              </a:lnSpc>
              <a:spcBef>
                <a:spcPts val="0"/>
              </a:spcBef>
              <a:spcAft>
                <a:spcPts val="0"/>
              </a:spcAft>
            </a:pPr>
            <a:r>
              <a:rPr lang="en-US" sz="1800" dirty="0">
                <a:effectLst/>
                <a:latin typeface="Calibri" panose="020F0502020204030204" pitchFamily="34" charset="0"/>
                <a:ea typeface="Malgun Gothic" panose="020B0503020000020004" pitchFamily="34" charset="-127"/>
                <a:cs typeface="Times New Roman" panose="02020603050405020304" pitchFamily="18" charset="0"/>
              </a:rPr>
              <a:t>Clinical history and observation findings</a:t>
            </a:r>
          </a:p>
        </p:txBody>
      </p:sp>
      <p:pic>
        <p:nvPicPr>
          <p:cNvPr id="4" name="Picture 3" descr="Graphical user interface, text, application&#10;&#10;Description automatically generated">
            <a:extLst>
              <a:ext uri="{FF2B5EF4-FFF2-40B4-BE49-F238E27FC236}">
                <a16:creationId xmlns:a16="http://schemas.microsoft.com/office/drawing/2014/main" id="{1F2EAE93-6279-4E69-A123-05021ECDF6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9572" y="761200"/>
            <a:ext cx="10792855" cy="5907277"/>
          </a:xfrm>
          <a:prstGeom prst="rect">
            <a:avLst/>
          </a:prstGeom>
        </p:spPr>
      </p:pic>
    </p:spTree>
    <p:extLst>
      <p:ext uri="{BB962C8B-B14F-4D97-AF65-F5344CB8AC3E}">
        <p14:creationId xmlns:p14="http://schemas.microsoft.com/office/powerpoint/2010/main" val="1202475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81244B-E318-4ED4-81F0-DE0F6C6894D6}"/>
              </a:ext>
            </a:extLst>
          </p:cNvPr>
          <p:cNvSpPr txBox="1"/>
          <p:nvPr/>
        </p:nvSpPr>
        <p:spPr>
          <a:xfrm>
            <a:off x="349786" y="385648"/>
            <a:ext cx="11495850" cy="375552"/>
          </a:xfrm>
          <a:prstGeom prst="rect">
            <a:avLst/>
          </a:prstGeom>
          <a:noFill/>
        </p:spPr>
        <p:txBody>
          <a:bodyPr wrap="square">
            <a:spAutoFit/>
          </a:bodyPr>
          <a:lstStyle/>
          <a:p>
            <a:pPr marL="0" marR="0">
              <a:lnSpc>
                <a:spcPct val="107000"/>
              </a:lnSpc>
              <a:spcBef>
                <a:spcPts val="0"/>
              </a:spcBef>
              <a:spcAft>
                <a:spcPts val="0"/>
              </a:spcAft>
            </a:pPr>
            <a:r>
              <a:rPr lang="en-US" sz="1800" dirty="0">
                <a:effectLst/>
                <a:latin typeface="Calibri" panose="020F0502020204030204" pitchFamily="34" charset="0"/>
                <a:ea typeface="Malgun Gothic" panose="020B0503020000020004" pitchFamily="34" charset="-127"/>
                <a:cs typeface="Times New Roman" panose="02020603050405020304" pitchFamily="18" charset="0"/>
              </a:rPr>
              <a:t>Finding of movement</a:t>
            </a:r>
          </a:p>
        </p:txBody>
      </p:sp>
      <p:pic>
        <p:nvPicPr>
          <p:cNvPr id="5" name="Picture 4" descr="Graphical user interface, text, application, email&#10;&#10;Description automatically generated">
            <a:extLst>
              <a:ext uri="{FF2B5EF4-FFF2-40B4-BE49-F238E27FC236}">
                <a16:creationId xmlns:a16="http://schemas.microsoft.com/office/drawing/2014/main" id="{DD28E02B-5F4D-467C-B34A-5BB4A74D5F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9572" y="761200"/>
            <a:ext cx="10792855" cy="5907277"/>
          </a:xfrm>
          <a:prstGeom prst="rect">
            <a:avLst/>
          </a:prstGeom>
        </p:spPr>
      </p:pic>
    </p:spTree>
    <p:extLst>
      <p:ext uri="{BB962C8B-B14F-4D97-AF65-F5344CB8AC3E}">
        <p14:creationId xmlns:p14="http://schemas.microsoft.com/office/powerpoint/2010/main" val="23595802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81244B-E318-4ED4-81F0-DE0F6C6894D6}"/>
              </a:ext>
            </a:extLst>
          </p:cNvPr>
          <p:cNvSpPr txBox="1"/>
          <p:nvPr/>
        </p:nvSpPr>
        <p:spPr>
          <a:xfrm>
            <a:off x="349786" y="385648"/>
            <a:ext cx="11495850" cy="375552"/>
          </a:xfrm>
          <a:prstGeom prst="rect">
            <a:avLst/>
          </a:prstGeom>
          <a:noFill/>
        </p:spPr>
        <p:txBody>
          <a:bodyPr wrap="square">
            <a:spAutoFit/>
          </a:bodyPr>
          <a:lstStyle/>
          <a:p>
            <a:pPr marL="0" marR="0">
              <a:lnSpc>
                <a:spcPct val="107000"/>
              </a:lnSpc>
              <a:spcBef>
                <a:spcPts val="0"/>
              </a:spcBef>
              <a:spcAft>
                <a:spcPts val="0"/>
              </a:spcAft>
            </a:pPr>
            <a:r>
              <a:rPr lang="en-US" dirty="0">
                <a:latin typeface="Calibri" panose="020F0502020204030204" pitchFamily="34" charset="0"/>
                <a:ea typeface="Malgun Gothic" panose="020B0503020000020004" pitchFamily="34" charset="-127"/>
                <a:cs typeface="Times New Roman" panose="02020603050405020304" pitchFamily="18" charset="0"/>
              </a:rPr>
              <a:t>Involuntary movement</a:t>
            </a:r>
            <a:endParaRPr lang="en-US" sz="1800" dirty="0">
              <a:effectLst/>
              <a:latin typeface="Calibri" panose="020F0502020204030204" pitchFamily="34" charset="0"/>
              <a:ea typeface="Malgun Gothic" panose="020B0503020000020004" pitchFamily="34" charset="-127"/>
              <a:cs typeface="Times New Roman" panose="02020603050405020304" pitchFamily="18" charset="0"/>
            </a:endParaRPr>
          </a:p>
        </p:txBody>
      </p:sp>
      <p:pic>
        <p:nvPicPr>
          <p:cNvPr id="4" name="Picture 3" descr="Graphical user interface, text, application&#10;&#10;Description automatically generated">
            <a:extLst>
              <a:ext uri="{FF2B5EF4-FFF2-40B4-BE49-F238E27FC236}">
                <a16:creationId xmlns:a16="http://schemas.microsoft.com/office/drawing/2014/main" id="{BEFD1221-24C5-4D84-94A7-9D9363C413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9572" y="761200"/>
            <a:ext cx="10792855" cy="5907277"/>
          </a:xfrm>
          <a:prstGeom prst="rect">
            <a:avLst/>
          </a:prstGeom>
        </p:spPr>
      </p:pic>
    </p:spTree>
    <p:extLst>
      <p:ext uri="{BB962C8B-B14F-4D97-AF65-F5344CB8AC3E}">
        <p14:creationId xmlns:p14="http://schemas.microsoft.com/office/powerpoint/2010/main" val="12157798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81244B-E318-4ED4-81F0-DE0F6C6894D6}"/>
              </a:ext>
            </a:extLst>
          </p:cNvPr>
          <p:cNvSpPr txBox="1"/>
          <p:nvPr/>
        </p:nvSpPr>
        <p:spPr>
          <a:xfrm>
            <a:off x="349786" y="385648"/>
            <a:ext cx="11495850" cy="375552"/>
          </a:xfrm>
          <a:prstGeom prst="rect">
            <a:avLst/>
          </a:prstGeom>
          <a:noFill/>
        </p:spPr>
        <p:txBody>
          <a:bodyPr wrap="square">
            <a:spAutoFit/>
          </a:bodyPr>
          <a:lstStyle/>
          <a:p>
            <a:pPr marL="0" marR="0">
              <a:lnSpc>
                <a:spcPct val="107000"/>
              </a:lnSpc>
              <a:spcBef>
                <a:spcPts val="0"/>
              </a:spcBef>
              <a:spcAft>
                <a:spcPts val="0"/>
              </a:spcAft>
            </a:pPr>
            <a:r>
              <a:rPr lang="en-US" sz="1800" dirty="0">
                <a:effectLst/>
                <a:latin typeface="Calibri" panose="020F0502020204030204" pitchFamily="34" charset="0"/>
                <a:ea typeface="Malgun Gothic" panose="020B0503020000020004" pitchFamily="34" charset="-127"/>
                <a:cs typeface="Times New Roman" panose="02020603050405020304" pitchFamily="18" charset="0"/>
              </a:rPr>
              <a:t>Tremor</a:t>
            </a:r>
          </a:p>
        </p:txBody>
      </p:sp>
      <p:pic>
        <p:nvPicPr>
          <p:cNvPr id="4" name="Picture 3" descr="Graphical user interface, text, application, email&#10;&#10;Description automatically generated">
            <a:extLst>
              <a:ext uri="{FF2B5EF4-FFF2-40B4-BE49-F238E27FC236}">
                <a16:creationId xmlns:a16="http://schemas.microsoft.com/office/drawing/2014/main" id="{CF5FBC4D-BEF9-46C2-A3E5-4B7F646711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9572" y="761200"/>
            <a:ext cx="10792855" cy="5907277"/>
          </a:xfrm>
          <a:prstGeom prst="rect">
            <a:avLst/>
          </a:prstGeom>
        </p:spPr>
      </p:pic>
    </p:spTree>
    <p:extLst>
      <p:ext uri="{BB962C8B-B14F-4D97-AF65-F5344CB8AC3E}">
        <p14:creationId xmlns:p14="http://schemas.microsoft.com/office/powerpoint/2010/main" val="4688476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81244B-E318-4ED4-81F0-DE0F6C6894D6}"/>
              </a:ext>
            </a:extLst>
          </p:cNvPr>
          <p:cNvSpPr txBox="1"/>
          <p:nvPr/>
        </p:nvSpPr>
        <p:spPr>
          <a:xfrm>
            <a:off x="349786" y="385648"/>
            <a:ext cx="11495850" cy="375552"/>
          </a:xfrm>
          <a:prstGeom prst="rect">
            <a:avLst/>
          </a:prstGeom>
          <a:noFill/>
        </p:spPr>
        <p:txBody>
          <a:bodyPr wrap="square">
            <a:spAutoFit/>
          </a:bodyPr>
          <a:lstStyle/>
          <a:p>
            <a:pPr marL="0" marR="0">
              <a:lnSpc>
                <a:spcPct val="107000"/>
              </a:lnSpc>
              <a:spcBef>
                <a:spcPts val="0"/>
              </a:spcBef>
              <a:spcAft>
                <a:spcPts val="0"/>
              </a:spcAft>
            </a:pPr>
            <a:r>
              <a:rPr lang="en-US" sz="1800" dirty="0">
                <a:effectLst/>
                <a:latin typeface="Calibri" panose="020F0502020204030204" pitchFamily="34" charset="0"/>
                <a:ea typeface="Malgun Gothic" panose="020B0503020000020004" pitchFamily="34" charset="-127"/>
                <a:cs typeface="Times New Roman" panose="02020603050405020304" pitchFamily="18" charset="0"/>
              </a:rPr>
              <a:t>Select current concept (Tremor)</a:t>
            </a:r>
          </a:p>
        </p:txBody>
      </p:sp>
      <p:pic>
        <p:nvPicPr>
          <p:cNvPr id="4" name="Picture 3" descr="Graphical user interface, text, application&#10;&#10;Description automatically generated">
            <a:extLst>
              <a:ext uri="{FF2B5EF4-FFF2-40B4-BE49-F238E27FC236}">
                <a16:creationId xmlns:a16="http://schemas.microsoft.com/office/drawing/2014/main" id="{54E53462-93D7-4DDD-97C6-C4AFB1DF65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9572" y="761200"/>
            <a:ext cx="10792855" cy="5907277"/>
          </a:xfrm>
          <a:prstGeom prst="rect">
            <a:avLst/>
          </a:prstGeom>
        </p:spPr>
      </p:pic>
    </p:spTree>
    <p:extLst>
      <p:ext uri="{BB962C8B-B14F-4D97-AF65-F5344CB8AC3E}">
        <p14:creationId xmlns:p14="http://schemas.microsoft.com/office/powerpoint/2010/main" val="2041665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81244B-E318-4ED4-81F0-DE0F6C6894D6}"/>
              </a:ext>
            </a:extLst>
          </p:cNvPr>
          <p:cNvSpPr txBox="1"/>
          <p:nvPr/>
        </p:nvSpPr>
        <p:spPr>
          <a:xfrm>
            <a:off x="349786" y="385648"/>
            <a:ext cx="11495850" cy="375552"/>
          </a:xfrm>
          <a:prstGeom prst="rect">
            <a:avLst/>
          </a:prstGeom>
          <a:noFill/>
        </p:spPr>
        <p:txBody>
          <a:bodyPr wrap="square">
            <a:spAutoFit/>
          </a:bodyPr>
          <a:lstStyle/>
          <a:p>
            <a:pPr marL="0" marR="0">
              <a:lnSpc>
                <a:spcPct val="107000"/>
              </a:lnSpc>
              <a:spcBef>
                <a:spcPts val="0"/>
              </a:spcBef>
              <a:spcAft>
                <a:spcPts val="0"/>
              </a:spcAft>
            </a:pPr>
            <a:r>
              <a:rPr lang="en-US" sz="1800" dirty="0">
                <a:effectLst/>
                <a:latin typeface="Calibri" panose="020F0502020204030204" pitchFamily="34" charset="0"/>
                <a:ea typeface="Malgun Gothic" panose="020B0503020000020004" pitchFamily="34" charset="-127"/>
                <a:cs typeface="Times New Roman" panose="02020603050405020304" pitchFamily="18" charset="0"/>
              </a:rPr>
              <a:t>Query participant data</a:t>
            </a:r>
          </a:p>
        </p:txBody>
      </p:sp>
      <p:pic>
        <p:nvPicPr>
          <p:cNvPr id="4" name="Picture 3">
            <a:extLst>
              <a:ext uri="{FF2B5EF4-FFF2-40B4-BE49-F238E27FC236}">
                <a16:creationId xmlns:a16="http://schemas.microsoft.com/office/drawing/2014/main" id="{179A715C-5171-430E-8E81-6085564676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9572" y="761200"/>
            <a:ext cx="10792855" cy="5907277"/>
          </a:xfrm>
          <a:prstGeom prst="rect">
            <a:avLst/>
          </a:prstGeom>
        </p:spPr>
      </p:pic>
    </p:spTree>
    <p:extLst>
      <p:ext uri="{BB962C8B-B14F-4D97-AF65-F5344CB8AC3E}">
        <p14:creationId xmlns:p14="http://schemas.microsoft.com/office/powerpoint/2010/main" val="29219290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81244B-E318-4ED4-81F0-DE0F6C6894D6}"/>
              </a:ext>
            </a:extLst>
          </p:cNvPr>
          <p:cNvSpPr txBox="1"/>
          <p:nvPr/>
        </p:nvSpPr>
        <p:spPr>
          <a:xfrm>
            <a:off x="349786" y="385648"/>
            <a:ext cx="11495850" cy="375552"/>
          </a:xfrm>
          <a:prstGeom prst="rect">
            <a:avLst/>
          </a:prstGeom>
          <a:noFill/>
        </p:spPr>
        <p:txBody>
          <a:bodyPr wrap="square">
            <a:spAutoFit/>
          </a:bodyPr>
          <a:lstStyle/>
          <a:p>
            <a:pPr marL="0" marR="0">
              <a:lnSpc>
                <a:spcPct val="107000"/>
              </a:lnSpc>
              <a:spcBef>
                <a:spcPts val="0"/>
              </a:spcBef>
              <a:spcAft>
                <a:spcPts val="0"/>
              </a:spcAft>
            </a:pPr>
            <a:r>
              <a:rPr lang="en-US" sz="1800" dirty="0">
                <a:effectLst/>
                <a:latin typeface="Calibri" panose="020F0502020204030204" pitchFamily="34" charset="0"/>
                <a:ea typeface="Malgun Gothic" panose="020B0503020000020004" pitchFamily="34" charset="-127"/>
                <a:cs typeface="Times New Roman" panose="02020603050405020304" pitchFamily="18" charset="0"/>
              </a:rPr>
              <a:t>Select variables to be graphed and connected (SNOMED CT concept and UCD diagnosis)</a:t>
            </a:r>
          </a:p>
        </p:txBody>
      </p:sp>
      <p:pic>
        <p:nvPicPr>
          <p:cNvPr id="6" name="Picture 5" descr="Graphical user interface, application&#10;&#10;Description automatically generated">
            <a:extLst>
              <a:ext uri="{FF2B5EF4-FFF2-40B4-BE49-F238E27FC236}">
                <a16:creationId xmlns:a16="http://schemas.microsoft.com/office/drawing/2014/main" id="{2A49DDA7-6D0C-47DD-8C21-1E9BAABBD3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9572" y="761200"/>
            <a:ext cx="10792855" cy="5907277"/>
          </a:xfrm>
          <a:prstGeom prst="rect">
            <a:avLst/>
          </a:prstGeom>
        </p:spPr>
      </p:pic>
    </p:spTree>
    <p:extLst>
      <p:ext uri="{BB962C8B-B14F-4D97-AF65-F5344CB8AC3E}">
        <p14:creationId xmlns:p14="http://schemas.microsoft.com/office/powerpoint/2010/main" val="27337634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81244B-E318-4ED4-81F0-DE0F6C6894D6}"/>
              </a:ext>
            </a:extLst>
          </p:cNvPr>
          <p:cNvSpPr txBox="1"/>
          <p:nvPr/>
        </p:nvSpPr>
        <p:spPr>
          <a:xfrm>
            <a:off x="349786" y="385648"/>
            <a:ext cx="11495850" cy="375552"/>
          </a:xfrm>
          <a:prstGeom prst="rect">
            <a:avLst/>
          </a:prstGeom>
          <a:noFill/>
        </p:spPr>
        <p:txBody>
          <a:bodyPr wrap="square">
            <a:spAutoFit/>
          </a:bodyPr>
          <a:lstStyle/>
          <a:p>
            <a:pPr marL="0" marR="0">
              <a:lnSpc>
                <a:spcPct val="107000"/>
              </a:lnSpc>
              <a:spcBef>
                <a:spcPts val="0"/>
              </a:spcBef>
              <a:spcAft>
                <a:spcPts val="0"/>
              </a:spcAft>
            </a:pPr>
            <a:r>
              <a:rPr lang="en-US" sz="1800" dirty="0">
                <a:effectLst/>
                <a:latin typeface="Calibri" panose="020F0502020204030204" pitchFamily="34" charset="0"/>
                <a:ea typeface="Malgun Gothic" panose="020B0503020000020004" pitchFamily="34" charset="-127"/>
                <a:cs typeface="Times New Roman" panose="02020603050405020304" pitchFamily="18" charset="0"/>
              </a:rPr>
              <a:t>Default (free-form) graph</a:t>
            </a:r>
          </a:p>
        </p:txBody>
      </p:sp>
      <p:sp>
        <p:nvSpPr>
          <p:cNvPr id="5" name="TextBox 4">
            <a:extLst>
              <a:ext uri="{FF2B5EF4-FFF2-40B4-BE49-F238E27FC236}">
                <a16:creationId xmlns:a16="http://schemas.microsoft.com/office/drawing/2014/main" id="{2052BD77-8338-4080-9136-4EE254C7D212}"/>
              </a:ext>
            </a:extLst>
          </p:cNvPr>
          <p:cNvSpPr txBox="1"/>
          <p:nvPr/>
        </p:nvSpPr>
        <p:spPr>
          <a:xfrm>
            <a:off x="349785" y="795836"/>
            <a:ext cx="9488277" cy="375552"/>
          </a:xfrm>
          <a:prstGeom prst="rect">
            <a:avLst/>
          </a:prstGeom>
          <a:noFill/>
        </p:spPr>
        <p:txBody>
          <a:bodyPr wrap="square">
            <a:spAutoFit/>
          </a:bodyPr>
          <a:lstStyle/>
          <a:p>
            <a:pPr marL="0" marR="0">
              <a:lnSpc>
                <a:spcPct val="107000"/>
              </a:lnSpc>
              <a:spcBef>
                <a:spcPts val="0"/>
              </a:spcBef>
              <a:spcAft>
                <a:spcPts val="0"/>
              </a:spcAft>
            </a:pPr>
            <a:r>
              <a:rPr lang="en-US" dirty="0">
                <a:latin typeface="Calibri" panose="020F0502020204030204" pitchFamily="34" charset="0"/>
                <a:ea typeface="Malgun Gothic" panose="020B0503020000020004" pitchFamily="34" charset="-127"/>
                <a:cs typeface="Times New Roman" panose="02020603050405020304" pitchFamily="18" charset="0"/>
              </a:rPr>
              <a:t>(1) Indicates the first concept (Tremor) specified (multiple concepts can be selected)</a:t>
            </a:r>
            <a:endParaRPr lang="en-US" sz="1800" dirty="0">
              <a:effectLst/>
              <a:latin typeface="Calibri" panose="020F0502020204030204" pitchFamily="34" charset="0"/>
              <a:ea typeface="Malgun Gothic" panose="020B0503020000020004" pitchFamily="34" charset="-127"/>
              <a:cs typeface="Times New Roman" panose="02020603050405020304" pitchFamily="18" charset="0"/>
            </a:endParaRPr>
          </a:p>
        </p:txBody>
      </p:sp>
      <p:pic>
        <p:nvPicPr>
          <p:cNvPr id="9" name="Picture 8" descr="Chart, radar chart&#10;&#10;Description automatically generated">
            <a:extLst>
              <a:ext uri="{FF2B5EF4-FFF2-40B4-BE49-F238E27FC236}">
                <a16:creationId xmlns:a16="http://schemas.microsoft.com/office/drawing/2014/main" id="{20ED38F5-EEA6-4BED-823B-16809CAF9C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2623" y="1389183"/>
            <a:ext cx="9746754" cy="5334712"/>
          </a:xfrm>
          <a:prstGeom prst="rect">
            <a:avLst/>
          </a:prstGeom>
        </p:spPr>
      </p:pic>
    </p:spTree>
    <p:extLst>
      <p:ext uri="{BB962C8B-B14F-4D97-AF65-F5344CB8AC3E}">
        <p14:creationId xmlns:p14="http://schemas.microsoft.com/office/powerpoint/2010/main" val="25563537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81244B-E318-4ED4-81F0-DE0F6C6894D6}"/>
              </a:ext>
            </a:extLst>
          </p:cNvPr>
          <p:cNvSpPr txBox="1"/>
          <p:nvPr/>
        </p:nvSpPr>
        <p:spPr>
          <a:xfrm>
            <a:off x="349786" y="385648"/>
            <a:ext cx="11495850" cy="375552"/>
          </a:xfrm>
          <a:prstGeom prst="rect">
            <a:avLst/>
          </a:prstGeom>
          <a:noFill/>
        </p:spPr>
        <p:txBody>
          <a:bodyPr wrap="square">
            <a:spAutoFit/>
          </a:bodyPr>
          <a:lstStyle/>
          <a:p>
            <a:pPr marL="0" marR="0">
              <a:lnSpc>
                <a:spcPct val="107000"/>
              </a:lnSpc>
              <a:spcBef>
                <a:spcPts val="0"/>
              </a:spcBef>
              <a:spcAft>
                <a:spcPts val="0"/>
              </a:spcAft>
            </a:pPr>
            <a:r>
              <a:rPr lang="en-US" sz="1800" dirty="0">
                <a:effectLst/>
                <a:latin typeface="Calibri" panose="020F0502020204030204" pitchFamily="34" charset="0"/>
                <a:ea typeface="Malgun Gothic" panose="020B0503020000020004" pitchFamily="34" charset="-127"/>
                <a:cs typeface="Times New Roman" panose="02020603050405020304" pitchFamily="18" charset="0"/>
              </a:rPr>
              <a:t>Convert to radial graph</a:t>
            </a:r>
          </a:p>
        </p:txBody>
      </p:sp>
      <p:pic>
        <p:nvPicPr>
          <p:cNvPr id="8" name="Picture 7" descr="Chart&#10;&#10;Description automatically generated">
            <a:extLst>
              <a:ext uri="{FF2B5EF4-FFF2-40B4-BE49-F238E27FC236}">
                <a16:creationId xmlns:a16="http://schemas.microsoft.com/office/drawing/2014/main" id="{C0069591-F693-4CE7-BFE5-5118BEB225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9572" y="761200"/>
            <a:ext cx="10792855" cy="5907277"/>
          </a:xfrm>
          <a:prstGeom prst="rect">
            <a:avLst/>
          </a:prstGeom>
        </p:spPr>
      </p:pic>
    </p:spTree>
    <p:extLst>
      <p:ext uri="{BB962C8B-B14F-4D97-AF65-F5344CB8AC3E}">
        <p14:creationId xmlns:p14="http://schemas.microsoft.com/office/powerpoint/2010/main" val="11200085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81244B-E318-4ED4-81F0-DE0F6C6894D6}"/>
              </a:ext>
            </a:extLst>
          </p:cNvPr>
          <p:cNvSpPr txBox="1"/>
          <p:nvPr/>
        </p:nvSpPr>
        <p:spPr>
          <a:xfrm>
            <a:off x="349786" y="385648"/>
            <a:ext cx="11495850" cy="375552"/>
          </a:xfrm>
          <a:prstGeom prst="rect">
            <a:avLst/>
          </a:prstGeom>
          <a:noFill/>
        </p:spPr>
        <p:txBody>
          <a:bodyPr wrap="square">
            <a:spAutoFit/>
          </a:bodyPr>
          <a:lstStyle/>
          <a:p>
            <a:pPr marL="0" marR="0">
              <a:lnSpc>
                <a:spcPct val="107000"/>
              </a:lnSpc>
              <a:spcBef>
                <a:spcPts val="0"/>
              </a:spcBef>
              <a:spcAft>
                <a:spcPts val="0"/>
              </a:spcAft>
            </a:pPr>
            <a:r>
              <a:rPr lang="en-US" dirty="0">
                <a:latin typeface="Calibri" panose="020F0502020204030204" pitchFamily="34" charset="0"/>
                <a:ea typeface="Malgun Gothic" panose="020B0503020000020004" pitchFamily="34" charset="-127"/>
                <a:cs typeface="Times New Roman" panose="02020603050405020304" pitchFamily="18" charset="0"/>
              </a:rPr>
              <a:t>Node hover labels, SNOMED CT concept Intention tremor has 18 distinct participants</a:t>
            </a:r>
            <a:endParaRPr lang="en-US" sz="1800" dirty="0">
              <a:effectLst/>
              <a:latin typeface="Calibri" panose="020F0502020204030204" pitchFamily="34" charset="0"/>
              <a:ea typeface="Malgun Gothic" panose="020B0503020000020004" pitchFamily="34" charset="-127"/>
              <a:cs typeface="Times New Roman" panose="02020603050405020304" pitchFamily="18" charset="0"/>
            </a:endParaRPr>
          </a:p>
        </p:txBody>
      </p:sp>
      <p:pic>
        <p:nvPicPr>
          <p:cNvPr id="6" name="Picture 5" descr="Graphical user interface&#10;&#10;Description automatically generated with medium confidence">
            <a:extLst>
              <a:ext uri="{FF2B5EF4-FFF2-40B4-BE49-F238E27FC236}">
                <a16:creationId xmlns:a16="http://schemas.microsoft.com/office/drawing/2014/main" id="{71A135BC-5262-4021-A08B-953E1B7E7B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9572" y="761200"/>
            <a:ext cx="10792855" cy="5907277"/>
          </a:xfrm>
          <a:prstGeom prst="rect">
            <a:avLst/>
          </a:prstGeom>
        </p:spPr>
      </p:pic>
    </p:spTree>
    <p:extLst>
      <p:ext uri="{BB962C8B-B14F-4D97-AF65-F5344CB8AC3E}">
        <p14:creationId xmlns:p14="http://schemas.microsoft.com/office/powerpoint/2010/main" val="41072721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81244B-E318-4ED4-81F0-DE0F6C6894D6}"/>
              </a:ext>
            </a:extLst>
          </p:cNvPr>
          <p:cNvSpPr txBox="1"/>
          <p:nvPr/>
        </p:nvSpPr>
        <p:spPr>
          <a:xfrm>
            <a:off x="349786" y="385648"/>
            <a:ext cx="11495850" cy="375552"/>
          </a:xfrm>
          <a:prstGeom prst="rect">
            <a:avLst/>
          </a:prstGeom>
          <a:noFill/>
        </p:spPr>
        <p:txBody>
          <a:bodyPr wrap="square">
            <a:spAutoFit/>
          </a:bodyPr>
          <a:lstStyle/>
          <a:p>
            <a:pPr marL="0" marR="0">
              <a:lnSpc>
                <a:spcPct val="107000"/>
              </a:lnSpc>
              <a:spcBef>
                <a:spcPts val="0"/>
              </a:spcBef>
              <a:spcAft>
                <a:spcPts val="0"/>
              </a:spcAft>
            </a:pPr>
            <a:r>
              <a:rPr lang="en-US" sz="1800" dirty="0">
                <a:effectLst/>
                <a:latin typeface="Calibri" panose="020F0502020204030204" pitchFamily="34" charset="0"/>
                <a:ea typeface="Malgun Gothic" panose="020B0503020000020004" pitchFamily="34" charset="-127"/>
                <a:cs typeface="Times New Roman" panose="02020603050405020304" pitchFamily="18" charset="0"/>
              </a:rPr>
              <a:t>Node hover labels, UCD diagnosis ALD has 17 distinct participants</a:t>
            </a:r>
          </a:p>
        </p:txBody>
      </p:sp>
      <p:pic>
        <p:nvPicPr>
          <p:cNvPr id="6" name="Picture 5" descr="A picture containing chart&#10;&#10;Description automatically generated">
            <a:extLst>
              <a:ext uri="{FF2B5EF4-FFF2-40B4-BE49-F238E27FC236}">
                <a16:creationId xmlns:a16="http://schemas.microsoft.com/office/drawing/2014/main" id="{CE464062-000F-4819-9FB3-5613CDBBDB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9572" y="761200"/>
            <a:ext cx="10792855" cy="5907277"/>
          </a:xfrm>
          <a:prstGeom prst="rect">
            <a:avLst/>
          </a:prstGeom>
        </p:spPr>
      </p:pic>
    </p:spTree>
    <p:extLst>
      <p:ext uri="{BB962C8B-B14F-4D97-AF65-F5344CB8AC3E}">
        <p14:creationId xmlns:p14="http://schemas.microsoft.com/office/powerpoint/2010/main" val="31264559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81244B-E318-4ED4-81F0-DE0F6C6894D6}"/>
              </a:ext>
            </a:extLst>
          </p:cNvPr>
          <p:cNvSpPr txBox="1"/>
          <p:nvPr/>
        </p:nvSpPr>
        <p:spPr>
          <a:xfrm>
            <a:off x="349786" y="385648"/>
            <a:ext cx="11495850" cy="375552"/>
          </a:xfrm>
          <a:prstGeom prst="rect">
            <a:avLst/>
          </a:prstGeom>
          <a:noFill/>
        </p:spPr>
        <p:txBody>
          <a:bodyPr wrap="square">
            <a:spAutoFit/>
          </a:bodyPr>
          <a:lstStyle/>
          <a:p>
            <a:pPr>
              <a:lnSpc>
                <a:spcPct val="107000"/>
              </a:lnSpc>
            </a:pPr>
            <a:r>
              <a:rPr lang="en-US" sz="1800" dirty="0">
                <a:effectLst/>
                <a:latin typeface="Calibri" panose="020F0502020204030204" pitchFamily="34" charset="0"/>
                <a:ea typeface="Malgun Gothic" panose="020B0503020000020004" pitchFamily="34" charset="-127"/>
                <a:cs typeface="Times New Roman" panose="02020603050405020304" pitchFamily="18" charset="0"/>
              </a:rPr>
              <a:t>Edge hover labels, 12 distinct participants are associated with both Intention tremor and UCD diagnosis of ALD</a:t>
            </a:r>
          </a:p>
        </p:txBody>
      </p:sp>
      <p:pic>
        <p:nvPicPr>
          <p:cNvPr id="6" name="Picture 5" descr="Chart&#10;&#10;Description automatically generated with medium confidence">
            <a:extLst>
              <a:ext uri="{FF2B5EF4-FFF2-40B4-BE49-F238E27FC236}">
                <a16:creationId xmlns:a16="http://schemas.microsoft.com/office/drawing/2014/main" id="{16883303-680D-4E88-A5AB-1A31E82BFB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9572" y="761200"/>
            <a:ext cx="10792855" cy="5907277"/>
          </a:xfrm>
          <a:prstGeom prst="rect">
            <a:avLst/>
          </a:prstGeom>
        </p:spPr>
      </p:pic>
    </p:spTree>
    <p:extLst>
      <p:ext uri="{BB962C8B-B14F-4D97-AF65-F5344CB8AC3E}">
        <p14:creationId xmlns:p14="http://schemas.microsoft.com/office/powerpoint/2010/main" val="16207693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81244B-E318-4ED4-81F0-DE0F6C6894D6}"/>
              </a:ext>
            </a:extLst>
          </p:cNvPr>
          <p:cNvSpPr txBox="1"/>
          <p:nvPr/>
        </p:nvSpPr>
        <p:spPr>
          <a:xfrm>
            <a:off x="349786" y="385648"/>
            <a:ext cx="11495850" cy="375552"/>
          </a:xfrm>
          <a:prstGeom prst="rect">
            <a:avLst/>
          </a:prstGeom>
          <a:noFill/>
        </p:spPr>
        <p:txBody>
          <a:bodyPr wrap="square">
            <a:spAutoFit/>
          </a:bodyPr>
          <a:lstStyle/>
          <a:p>
            <a:pPr marL="0" marR="0">
              <a:lnSpc>
                <a:spcPct val="107000"/>
              </a:lnSpc>
              <a:spcBef>
                <a:spcPts val="0"/>
              </a:spcBef>
              <a:spcAft>
                <a:spcPts val="0"/>
              </a:spcAft>
            </a:pPr>
            <a:r>
              <a:rPr lang="en-US" sz="1800" dirty="0">
                <a:effectLst/>
                <a:latin typeface="Calibri" panose="020F0502020204030204" pitchFamily="34" charset="0"/>
                <a:ea typeface="Malgun Gothic" panose="020B0503020000020004" pitchFamily="34" charset="-127"/>
                <a:cs typeface="Times New Roman" panose="02020603050405020304" pitchFamily="18" charset="0"/>
              </a:rPr>
              <a:t>Subnet to include ALD and ASD only (shift-click nodes to select)</a:t>
            </a:r>
          </a:p>
        </p:txBody>
      </p:sp>
      <p:pic>
        <p:nvPicPr>
          <p:cNvPr id="14" name="Picture 13" descr="Chart&#10;&#10;Description automatically generated">
            <a:extLst>
              <a:ext uri="{FF2B5EF4-FFF2-40B4-BE49-F238E27FC236}">
                <a16:creationId xmlns:a16="http://schemas.microsoft.com/office/drawing/2014/main" id="{2645603D-DC93-4B8C-8434-7B424A63FE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9572" y="761200"/>
            <a:ext cx="10792855" cy="5907277"/>
          </a:xfrm>
          <a:prstGeom prst="rect">
            <a:avLst/>
          </a:prstGeom>
        </p:spPr>
      </p:pic>
    </p:spTree>
    <p:extLst>
      <p:ext uri="{BB962C8B-B14F-4D97-AF65-F5344CB8AC3E}">
        <p14:creationId xmlns:p14="http://schemas.microsoft.com/office/powerpoint/2010/main" val="29315815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81244B-E318-4ED4-81F0-DE0F6C6894D6}"/>
              </a:ext>
            </a:extLst>
          </p:cNvPr>
          <p:cNvSpPr txBox="1"/>
          <p:nvPr/>
        </p:nvSpPr>
        <p:spPr>
          <a:xfrm>
            <a:off x="349786" y="385648"/>
            <a:ext cx="11495850" cy="375552"/>
          </a:xfrm>
          <a:prstGeom prst="rect">
            <a:avLst/>
          </a:prstGeom>
          <a:noFill/>
        </p:spPr>
        <p:txBody>
          <a:bodyPr wrap="square">
            <a:spAutoFit/>
          </a:bodyPr>
          <a:lstStyle/>
          <a:p>
            <a:pPr marL="0" marR="0">
              <a:lnSpc>
                <a:spcPct val="107000"/>
              </a:lnSpc>
              <a:spcBef>
                <a:spcPts val="0"/>
              </a:spcBef>
              <a:spcAft>
                <a:spcPts val="0"/>
              </a:spcAft>
            </a:pPr>
            <a:r>
              <a:rPr lang="en-US" dirty="0">
                <a:latin typeface="Calibri" panose="020F0502020204030204" pitchFamily="34" charset="0"/>
                <a:ea typeface="Malgun Gothic" panose="020B0503020000020004" pitchFamily="34" charset="-127"/>
                <a:cs typeface="Times New Roman" panose="02020603050405020304" pitchFamily="18" charset="0"/>
              </a:rPr>
              <a:t>Include nodes for HA and group levels into either with or without HA, specify edges between </a:t>
            </a:r>
            <a:r>
              <a:rPr lang="en-US" dirty="0" err="1">
                <a:latin typeface="Calibri" panose="020F0502020204030204" pitchFamily="34" charset="0"/>
                <a:ea typeface="Malgun Gothic" panose="020B0503020000020004" pitchFamily="34" charset="-127"/>
                <a:cs typeface="Times New Roman" panose="02020603050405020304" pitchFamily="18" charset="0"/>
              </a:rPr>
              <a:t>UCDDx</a:t>
            </a:r>
            <a:r>
              <a:rPr lang="en-US" dirty="0">
                <a:latin typeface="Calibri" panose="020F0502020204030204" pitchFamily="34" charset="0"/>
                <a:ea typeface="Malgun Gothic" panose="020B0503020000020004" pitchFamily="34" charset="-127"/>
                <a:cs typeface="Times New Roman" panose="02020603050405020304" pitchFamily="18" charset="0"/>
              </a:rPr>
              <a:t> and HA</a:t>
            </a:r>
            <a:endParaRPr lang="en-US" sz="1800" dirty="0">
              <a:effectLst/>
              <a:latin typeface="Calibri" panose="020F0502020204030204" pitchFamily="34" charset="0"/>
              <a:ea typeface="Malgun Gothic" panose="020B0503020000020004" pitchFamily="34" charset="-127"/>
              <a:cs typeface="Times New Roman" panose="02020603050405020304" pitchFamily="18" charset="0"/>
            </a:endParaRPr>
          </a:p>
        </p:txBody>
      </p:sp>
      <p:pic>
        <p:nvPicPr>
          <p:cNvPr id="6" name="Picture 5" descr="Diagram&#10;&#10;Description automatically generated">
            <a:extLst>
              <a:ext uri="{FF2B5EF4-FFF2-40B4-BE49-F238E27FC236}">
                <a16:creationId xmlns:a16="http://schemas.microsoft.com/office/drawing/2014/main" id="{3F3C1C17-7703-4528-81CC-71AA26BEC4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9572" y="743628"/>
            <a:ext cx="10792855" cy="5907277"/>
          </a:xfrm>
          <a:prstGeom prst="rect">
            <a:avLst/>
          </a:prstGeom>
        </p:spPr>
      </p:pic>
    </p:spTree>
    <p:extLst>
      <p:ext uri="{BB962C8B-B14F-4D97-AF65-F5344CB8AC3E}">
        <p14:creationId xmlns:p14="http://schemas.microsoft.com/office/powerpoint/2010/main" val="35006848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81244B-E318-4ED4-81F0-DE0F6C6894D6}"/>
              </a:ext>
            </a:extLst>
          </p:cNvPr>
          <p:cNvSpPr txBox="1"/>
          <p:nvPr/>
        </p:nvSpPr>
        <p:spPr>
          <a:xfrm>
            <a:off x="349786" y="385648"/>
            <a:ext cx="11495850" cy="375552"/>
          </a:xfrm>
          <a:prstGeom prst="rect">
            <a:avLst/>
          </a:prstGeom>
          <a:noFill/>
        </p:spPr>
        <p:txBody>
          <a:bodyPr wrap="square">
            <a:spAutoFit/>
          </a:bodyPr>
          <a:lstStyle/>
          <a:p>
            <a:pPr marL="0" marR="0">
              <a:lnSpc>
                <a:spcPct val="107000"/>
              </a:lnSpc>
              <a:spcBef>
                <a:spcPts val="0"/>
              </a:spcBef>
              <a:spcAft>
                <a:spcPts val="0"/>
              </a:spcAft>
            </a:pPr>
            <a:r>
              <a:rPr lang="en-US" dirty="0">
                <a:latin typeface="Calibri" panose="020F0502020204030204" pitchFamily="34" charset="0"/>
                <a:ea typeface="Malgun Gothic" panose="020B0503020000020004" pitchFamily="34" charset="-127"/>
                <a:cs typeface="Times New Roman" panose="02020603050405020304" pitchFamily="18" charset="0"/>
              </a:rPr>
              <a:t>Specify interaction between </a:t>
            </a:r>
            <a:r>
              <a:rPr lang="en-US" dirty="0" err="1">
                <a:latin typeface="Calibri" panose="020F0502020204030204" pitchFamily="34" charset="0"/>
                <a:ea typeface="Malgun Gothic" panose="020B0503020000020004" pitchFamily="34" charset="-127"/>
                <a:cs typeface="Times New Roman" panose="02020603050405020304" pitchFamily="18" charset="0"/>
              </a:rPr>
              <a:t>UCDDx</a:t>
            </a:r>
            <a:r>
              <a:rPr lang="en-US" dirty="0">
                <a:latin typeface="Calibri" panose="020F0502020204030204" pitchFamily="34" charset="0"/>
                <a:ea typeface="Malgun Gothic" panose="020B0503020000020004" pitchFamily="34" charset="-127"/>
                <a:cs typeface="Times New Roman" panose="02020603050405020304" pitchFamily="18" charset="0"/>
              </a:rPr>
              <a:t> and HA, edges to SNOMED CT concept </a:t>
            </a:r>
            <a:endParaRPr lang="en-US" sz="1800" dirty="0">
              <a:effectLst/>
              <a:latin typeface="Calibri" panose="020F0502020204030204" pitchFamily="34" charset="0"/>
              <a:ea typeface="Malgun Gothic" panose="020B0503020000020004" pitchFamily="34" charset="-127"/>
              <a:cs typeface="Times New Roman" panose="02020603050405020304" pitchFamily="18" charset="0"/>
            </a:endParaRPr>
          </a:p>
        </p:txBody>
      </p:sp>
      <p:pic>
        <p:nvPicPr>
          <p:cNvPr id="6" name="Picture 5" descr="A picture containing graphical user interface&#10;&#10;Description automatically generated">
            <a:extLst>
              <a:ext uri="{FF2B5EF4-FFF2-40B4-BE49-F238E27FC236}">
                <a16:creationId xmlns:a16="http://schemas.microsoft.com/office/drawing/2014/main" id="{FBF585CA-4ADA-437D-AE9E-3F43280509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9572" y="761200"/>
            <a:ext cx="10792855" cy="5907277"/>
          </a:xfrm>
          <a:prstGeom prst="rect">
            <a:avLst/>
          </a:prstGeom>
        </p:spPr>
      </p:pic>
    </p:spTree>
    <p:extLst>
      <p:ext uri="{BB962C8B-B14F-4D97-AF65-F5344CB8AC3E}">
        <p14:creationId xmlns:p14="http://schemas.microsoft.com/office/powerpoint/2010/main" val="39040944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34291" y="1471612"/>
            <a:ext cx="10654145" cy="1754326"/>
          </a:xfrm>
          <a:prstGeom prst="rect">
            <a:avLst/>
          </a:prstGeom>
        </p:spPr>
        <p:txBody>
          <a:bodyPr wrap="square">
            <a:spAutoFit/>
          </a:bodyPr>
          <a:lstStyle/>
          <a:p>
            <a:r>
              <a:rPr lang="en-US" b="1" i="1" dirty="0">
                <a:solidFill>
                  <a:srgbClr val="FF0000"/>
                </a:solidFill>
              </a:rPr>
              <a:t>Talking point: </a:t>
            </a:r>
          </a:p>
          <a:p>
            <a:endParaRPr lang="en-US" b="1" i="1" dirty="0">
              <a:solidFill>
                <a:srgbClr val="FF0000"/>
              </a:solidFill>
            </a:endParaRPr>
          </a:p>
          <a:p>
            <a:r>
              <a:rPr lang="en-US" b="1" i="1" dirty="0">
                <a:solidFill>
                  <a:srgbClr val="FF0000"/>
                </a:solidFill>
              </a:rPr>
              <a:t>“The fact that ALD have no HA events but have resting and intentional tremors…  this is a great visualization. Help us decide which of these neurological phenotypes are due to </a:t>
            </a:r>
            <a:r>
              <a:rPr lang="en-US" b="1" i="1" dirty="0" err="1">
                <a:solidFill>
                  <a:srgbClr val="FF0000"/>
                </a:solidFill>
              </a:rPr>
              <a:t>hyperammonemia</a:t>
            </a:r>
            <a:r>
              <a:rPr lang="en-US" b="1" i="1" dirty="0">
                <a:solidFill>
                  <a:srgbClr val="FF0000"/>
                </a:solidFill>
              </a:rPr>
              <a:t> (as a result of UCD and impacting the brain) versus a loss of other enzymatic function due to the specific disease/failure of the urea cycle metabolism.”  (Sandesh quote)</a:t>
            </a:r>
          </a:p>
        </p:txBody>
      </p:sp>
    </p:spTree>
    <p:extLst>
      <p:ext uri="{BB962C8B-B14F-4D97-AF65-F5344CB8AC3E}">
        <p14:creationId xmlns:p14="http://schemas.microsoft.com/office/powerpoint/2010/main" val="12001066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81244B-E318-4ED4-81F0-DE0F6C6894D6}"/>
              </a:ext>
            </a:extLst>
          </p:cNvPr>
          <p:cNvSpPr txBox="1"/>
          <p:nvPr/>
        </p:nvSpPr>
        <p:spPr>
          <a:xfrm>
            <a:off x="349786" y="385648"/>
            <a:ext cx="11495850" cy="375552"/>
          </a:xfrm>
          <a:prstGeom prst="rect">
            <a:avLst/>
          </a:prstGeom>
          <a:noFill/>
        </p:spPr>
        <p:txBody>
          <a:bodyPr wrap="square">
            <a:spAutoFit/>
          </a:bodyPr>
          <a:lstStyle/>
          <a:p>
            <a:pPr marL="0" marR="0">
              <a:lnSpc>
                <a:spcPct val="107000"/>
              </a:lnSpc>
              <a:spcBef>
                <a:spcPts val="0"/>
              </a:spcBef>
              <a:spcAft>
                <a:spcPts val="0"/>
              </a:spcAft>
            </a:pPr>
            <a:r>
              <a:rPr lang="en-US" sz="1800" dirty="0">
                <a:effectLst/>
                <a:latin typeface="Calibri" panose="020F0502020204030204" pitchFamily="34" charset="0"/>
                <a:ea typeface="Malgun Gothic" panose="020B0503020000020004" pitchFamily="34" charset="-127"/>
                <a:cs typeface="Times New Roman" panose="02020603050405020304" pitchFamily="18" charset="0"/>
              </a:rPr>
              <a:t>ALD-No-HA participants associated with Intention tremor and/or Resting tremor</a:t>
            </a:r>
          </a:p>
        </p:txBody>
      </p:sp>
      <p:pic>
        <p:nvPicPr>
          <p:cNvPr id="4" name="Picture 3" descr="A picture containing diagram&#10;&#10;Description automatically generated">
            <a:extLst>
              <a:ext uri="{FF2B5EF4-FFF2-40B4-BE49-F238E27FC236}">
                <a16:creationId xmlns:a16="http://schemas.microsoft.com/office/drawing/2014/main" id="{2052E02D-6BEC-4168-A4BF-9BC5D555AF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9572" y="761200"/>
            <a:ext cx="10792855" cy="5907277"/>
          </a:xfrm>
          <a:prstGeom prst="rect">
            <a:avLst/>
          </a:prstGeom>
        </p:spPr>
      </p:pic>
    </p:spTree>
    <p:extLst>
      <p:ext uri="{BB962C8B-B14F-4D97-AF65-F5344CB8AC3E}">
        <p14:creationId xmlns:p14="http://schemas.microsoft.com/office/powerpoint/2010/main" val="41353743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p:cNvSpPr txBox="1">
            <a:spLocks/>
          </p:cNvSpPr>
          <p:nvPr/>
        </p:nvSpPr>
        <p:spPr>
          <a:xfrm>
            <a:off x="571500" y="1592261"/>
            <a:ext cx="10761482" cy="4777851"/>
          </a:xfrm>
          <a:prstGeom prst="rect">
            <a:avLst/>
          </a:prstGeom>
        </p:spPr>
        <p:txBody>
          <a:bodyPr>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i="1" dirty="0"/>
              <a:t>“The fact that ALD have no HA events but have resting and intentional tremors…  this is a great visualization. Help us decide which of these neurological phenotypes are due to </a:t>
            </a:r>
            <a:r>
              <a:rPr lang="en-US" i="1" dirty="0" err="1"/>
              <a:t>hyperammonemia</a:t>
            </a:r>
            <a:r>
              <a:rPr lang="en-US" i="1" dirty="0"/>
              <a:t> (as a result of UCD and impacting the brain) versus a loss of other enzymatic function due to the specific disease/failure of the urea cycle metabolism.” </a:t>
            </a:r>
          </a:p>
          <a:p>
            <a:pPr marL="285750" indent="-285750"/>
            <a:r>
              <a:rPr lang="en-US" dirty="0"/>
              <a:t>In other words, this visualization helps us understand that </a:t>
            </a:r>
            <a:r>
              <a:rPr lang="en-US" dirty="0">
                <a:solidFill>
                  <a:srgbClr val="7030A0"/>
                </a:solidFill>
              </a:rPr>
              <a:t>some patients are showing neurological symptoms (e.g., tremor) - </a:t>
            </a:r>
            <a:r>
              <a:rPr lang="en-US" dirty="0"/>
              <a:t>not because of accumulated ammonia neurotoxin (as a </a:t>
            </a:r>
            <a:r>
              <a:rPr lang="en-US" dirty="0" err="1"/>
              <a:t>sequalae</a:t>
            </a:r>
            <a:r>
              <a:rPr lang="en-US" dirty="0"/>
              <a:t> of UCD) - but </a:t>
            </a:r>
            <a:r>
              <a:rPr lang="en-US" dirty="0">
                <a:solidFill>
                  <a:srgbClr val="7030A0"/>
                </a:solidFill>
              </a:rPr>
              <a:t>because of loss of specific enzymes (due to the UCD defect) within the neurons (</a:t>
            </a:r>
            <a:r>
              <a:rPr lang="en-US" dirty="0" err="1">
                <a:solidFill>
                  <a:srgbClr val="7030A0"/>
                </a:solidFill>
              </a:rPr>
              <a:t>i</a:t>
            </a:r>
            <a:r>
              <a:rPr lang="en-US" dirty="0">
                <a:solidFill>
                  <a:srgbClr val="7030A0"/>
                </a:solidFill>
              </a:rPr>
              <a:t>.,e., patients with ALD + tremors and NO HA Events)</a:t>
            </a:r>
            <a:endParaRPr lang="en-US" dirty="0"/>
          </a:p>
          <a:p>
            <a:pPr marL="285750" indent="-285750"/>
            <a:r>
              <a:rPr lang="en-US" dirty="0"/>
              <a:t>Specifically, the visualization shows that patients with ALD with no </a:t>
            </a:r>
            <a:r>
              <a:rPr lang="en-US" dirty="0" err="1"/>
              <a:t>hyperammonemic</a:t>
            </a:r>
            <a:r>
              <a:rPr lang="en-US" dirty="0"/>
              <a:t> events have resting tremors, which is interesting and unexpected. </a:t>
            </a:r>
            <a:r>
              <a:rPr lang="en-US" dirty="0">
                <a:solidFill>
                  <a:srgbClr val="7030A0"/>
                </a:solidFill>
              </a:rPr>
              <a:t>Also, if you look at resting tremors, there seem to be more people without HA events than with them</a:t>
            </a:r>
            <a:r>
              <a:rPr lang="en-US" dirty="0"/>
              <a:t>.</a:t>
            </a:r>
          </a:p>
          <a:p>
            <a:pPr marL="285750" indent="-285750"/>
            <a:r>
              <a:rPr lang="en-US" dirty="0"/>
              <a:t>Confirms a hypothesis/line of investigation that his research team is currently exploring, but also gives us insight into the mechanics of disease for different UCD subtypes, and potentially in the future, targets for intervention. </a:t>
            </a:r>
          </a:p>
        </p:txBody>
      </p:sp>
      <p:sp>
        <p:nvSpPr>
          <p:cNvPr id="3" name="Title 2"/>
          <p:cNvSpPr>
            <a:spLocks noGrp="1"/>
          </p:cNvSpPr>
          <p:nvPr>
            <p:ph type="title"/>
          </p:nvPr>
        </p:nvSpPr>
        <p:spPr/>
        <p:txBody>
          <a:bodyPr>
            <a:normAutofit fontScale="90000"/>
          </a:bodyPr>
          <a:lstStyle/>
          <a:p>
            <a:r>
              <a:rPr lang="en-US" dirty="0">
                <a:solidFill>
                  <a:srgbClr val="FF0000"/>
                </a:solidFill>
              </a:rPr>
              <a:t>CONCLUSIONS  - can be part of your video or I can cover in my section after the demonstration.</a:t>
            </a:r>
            <a:br>
              <a:rPr lang="en-US" i="1" u="sng" dirty="0">
                <a:solidFill>
                  <a:srgbClr val="FF0000"/>
                </a:solidFill>
              </a:rPr>
            </a:br>
            <a:endParaRPr lang="en-US" dirty="0"/>
          </a:p>
        </p:txBody>
      </p:sp>
    </p:spTree>
    <p:extLst>
      <p:ext uri="{BB962C8B-B14F-4D97-AF65-F5344CB8AC3E}">
        <p14:creationId xmlns:p14="http://schemas.microsoft.com/office/powerpoint/2010/main" val="11404410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412</TotalTime>
  <Words>789</Words>
  <Application>Microsoft Office PowerPoint</Application>
  <PresentationFormat>Widescreen</PresentationFormat>
  <Paragraphs>40</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Calibri Light</vt:lpstr>
      <vt:lpstr>Office Theme</vt:lpstr>
      <vt:lpstr>PowerPoint Presentation</vt:lpstr>
      <vt:lpstr>TOM – pick any queries that make sense to you.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CONCLUSIONS  - can be part of your video or I can cover in my section after the demonstration.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Tom Balmat</dc:creator>
  <cp:lastModifiedBy>Tom Balmat</cp:lastModifiedBy>
  <cp:revision>29</cp:revision>
  <dcterms:created xsi:type="dcterms:W3CDTF">2021-03-15T18:47:33Z</dcterms:created>
  <dcterms:modified xsi:type="dcterms:W3CDTF">2021-03-16T01:50:58Z</dcterms:modified>
</cp:coreProperties>
</file>